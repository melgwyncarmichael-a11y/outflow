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Bebas Neue"/>
      <p:regular r:id="rId24"/>
    </p:embeddedFont>
    <p:embeddedFont>
      <p:font typeface="Rubik Black"/>
      <p:bold r:id="rId25"/>
      <p:boldItalic r:id="rId26"/>
    </p:embeddedFont>
    <p:embeddedFont>
      <p:font typeface="Rubik"/>
      <p:regular r:id="rId27"/>
      <p:bold r:id="rId28"/>
      <p:italic r:id="rId29"/>
      <p:boldItalic r:id="rId30"/>
    </p:embeddedFont>
    <p:embeddedFont>
      <p:font typeface="Rubik SemiBold"/>
      <p:regular r:id="rId31"/>
      <p:bold r:id="rId32"/>
      <p:italic r:id="rId33"/>
      <p:boldItalic r:id="rId34"/>
    </p:embeddedFont>
    <p:embeddedFont>
      <p:font typeface="Karl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BebasNeue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ubikBlack-boldItalic.fntdata"/><Relationship Id="rId25" Type="http://schemas.openxmlformats.org/officeDocument/2006/relationships/font" Target="fonts/RubikBlack-bold.fntdata"/><Relationship Id="rId28" Type="http://schemas.openxmlformats.org/officeDocument/2006/relationships/font" Target="fonts/Rubik-bold.fntdata"/><Relationship Id="rId27" Type="http://schemas.openxmlformats.org/officeDocument/2006/relationships/font" Target="fonts/Rubi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ubik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ubikSemiBold-regular.fntdata"/><Relationship Id="rId30" Type="http://schemas.openxmlformats.org/officeDocument/2006/relationships/font" Target="fonts/Rubik-boldItalic.fntdata"/><Relationship Id="rId11" Type="http://schemas.openxmlformats.org/officeDocument/2006/relationships/slide" Target="slides/slide7.xml"/><Relationship Id="rId33" Type="http://schemas.openxmlformats.org/officeDocument/2006/relationships/font" Target="fonts/RubikSemiBold-italic.fntdata"/><Relationship Id="rId10" Type="http://schemas.openxmlformats.org/officeDocument/2006/relationships/slide" Target="slides/slide6.xml"/><Relationship Id="rId32" Type="http://schemas.openxmlformats.org/officeDocument/2006/relationships/font" Target="fonts/RubikSemiBold-bold.fntdata"/><Relationship Id="rId13" Type="http://schemas.openxmlformats.org/officeDocument/2006/relationships/slide" Target="slides/slide9.xml"/><Relationship Id="rId35" Type="http://schemas.openxmlformats.org/officeDocument/2006/relationships/font" Target="fonts/Karla-regular.fntdata"/><Relationship Id="rId12" Type="http://schemas.openxmlformats.org/officeDocument/2006/relationships/slide" Target="slides/slide8.xml"/><Relationship Id="rId34" Type="http://schemas.openxmlformats.org/officeDocument/2006/relationships/font" Target="fonts/RubikSemiBold-boldItalic.fntdata"/><Relationship Id="rId15" Type="http://schemas.openxmlformats.org/officeDocument/2006/relationships/slide" Target="slides/slide11.xml"/><Relationship Id="rId37" Type="http://schemas.openxmlformats.org/officeDocument/2006/relationships/font" Target="fonts/Karla-italic.fntdata"/><Relationship Id="rId14" Type="http://schemas.openxmlformats.org/officeDocument/2006/relationships/slide" Target="slides/slide10.xml"/><Relationship Id="rId36" Type="http://schemas.openxmlformats.org/officeDocument/2006/relationships/font" Target="fonts/Karla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Karla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409c7b1119a_1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409c7b1119a_1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G2609142E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409c7b1119a_1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409c7b1119a_1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a50602d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fa50602d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8b970e765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evaluation has 28 </a:t>
            </a:r>
            <a:r>
              <a:rPr lang="en">
                <a:solidFill>
                  <a:schemeClr val="dk1"/>
                </a:solidFill>
              </a:rPr>
              <a:t>test cases, by human, across both modules, </a:t>
            </a:r>
            <a:r>
              <a:rPr lang="en">
                <a:solidFill>
                  <a:schemeClr val="dk1"/>
                </a:solidFill>
              </a:rPr>
              <a:t>covers 2 dimensions: first, quality of LLM functions itself.  across four criteria—</a:t>
            </a:r>
            <a:r>
              <a:rPr b="1" lang="en">
                <a:solidFill>
                  <a:schemeClr val="dk1"/>
                </a:solidFill>
              </a:rPr>
              <a:t>Grounding, Correctness, Safety, and Readability</a:t>
            </a:r>
            <a:r>
              <a:rPr lang="en">
                <a:solidFill>
                  <a:schemeClr val="dk1"/>
                </a:solidFill>
              </a:rPr>
              <a:t>; and second, an </a:t>
            </a:r>
            <a:r>
              <a:rPr b="1" lang="en">
                <a:solidFill>
                  <a:schemeClr val="dk1"/>
                </a:solidFill>
              </a:rPr>
              <a:t>architectural benchmark</a:t>
            </a:r>
            <a:r>
              <a:rPr lang="en">
                <a:solidFill>
                  <a:schemeClr val="dk1"/>
                </a:solidFill>
              </a:rPr>
              <a:t> basically how our app’s functions compared itself against same task in </a:t>
            </a:r>
            <a:r>
              <a:rPr lang="en">
                <a:solidFill>
                  <a:schemeClr val="dk1"/>
                </a:solidFill>
              </a:rPr>
              <a:t>simpler</a:t>
            </a:r>
            <a:r>
              <a:rPr lang="en">
                <a:solidFill>
                  <a:schemeClr val="dk1"/>
                </a:solidFill>
              </a:rPr>
              <a:t> non-app way. For example </a:t>
            </a:r>
            <a:r>
              <a:rPr lang="en">
                <a:solidFill>
                  <a:schemeClr val="dk1"/>
                </a:solidFill>
              </a:rPr>
              <a:t>variant </a:t>
            </a:r>
            <a:r>
              <a:rPr lang="en">
                <a:solidFill>
                  <a:schemeClr val="dk1"/>
                </a:solidFill>
              </a:rPr>
              <a:t>B: which is just having the model read the expense data.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0" name="Google Shape;640;g38b970e765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Comparing Outflow against </a:t>
            </a:r>
            <a:r>
              <a:rPr b="1" lang="en">
                <a:solidFill>
                  <a:schemeClr val="dk1"/>
                </a:solidFill>
              </a:rPr>
              <a:t>Variant B In querying module.</a:t>
            </a:r>
            <a:r>
              <a:rPr lang="en">
                <a:solidFill>
                  <a:schemeClr val="dk1"/>
                </a:solidFill>
              </a:rPr>
              <a:t>. We found that </a:t>
            </a:r>
            <a:r>
              <a:rPr i="1" lang="en">
                <a:solidFill>
                  <a:schemeClr val="dk1"/>
                </a:solidFill>
              </a:rPr>
              <a:t>variant</a:t>
            </a:r>
            <a:r>
              <a:rPr i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 sometimes struggle with aggregating expense to report to users</a:t>
            </a:r>
            <a:r>
              <a:rPr lang="en">
                <a:solidFill>
                  <a:schemeClr val="dk1"/>
                </a:solidFill>
              </a:rPr>
              <a:t> because </a:t>
            </a:r>
            <a:r>
              <a:rPr lang="en">
                <a:solidFill>
                  <a:schemeClr val="dk1"/>
                </a:solidFill>
              </a:rPr>
              <a:t>ultimately, even its deepseek, the model is still </a:t>
            </a:r>
            <a:r>
              <a:rPr lang="en">
                <a:solidFill>
                  <a:schemeClr val="dk1"/>
                </a:solidFill>
              </a:rPr>
              <a:t>prediction machine, and math isn’t the core </a:t>
            </a:r>
            <a:r>
              <a:rPr lang="en">
                <a:solidFill>
                  <a:schemeClr val="dk1"/>
                </a:solidFill>
              </a:rPr>
              <a:t>strength. </a:t>
            </a:r>
            <a:r>
              <a:rPr lang="en">
                <a:solidFill>
                  <a:schemeClr val="dk1"/>
                </a:solidFill>
              </a:rPr>
              <a:t>This one area where Outflow outperform,</a:t>
            </a:r>
            <a:r>
              <a:rPr b="1" lang="en">
                <a:solidFill>
                  <a:schemeClr val="dk1"/>
                </a:solidFill>
              </a:rPr>
              <a:t> because while we have model to understand user question, we delegate math-based </a:t>
            </a:r>
            <a:r>
              <a:rPr b="1" lang="en">
                <a:solidFill>
                  <a:schemeClr val="dk1"/>
                </a:solidFill>
              </a:rPr>
              <a:t>task</a:t>
            </a:r>
            <a:r>
              <a:rPr b="1" lang="en">
                <a:solidFill>
                  <a:schemeClr val="dk1"/>
                </a:solidFill>
              </a:rPr>
              <a:t> to a built-in calculator.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term of function quality, </a:t>
            </a:r>
            <a:r>
              <a:rPr b="1" lang="en">
                <a:solidFill>
                  <a:schemeClr val="dk1"/>
                </a:solidFill>
              </a:rPr>
              <a:t>V1</a:t>
            </a:r>
            <a:r>
              <a:rPr lang="en">
                <a:solidFill>
                  <a:schemeClr val="dk1"/>
                </a:solidFill>
              </a:rPr>
              <a:t> revealed quality issues with only a </a:t>
            </a:r>
            <a:r>
              <a:rPr b="1" lang="en">
                <a:solidFill>
                  <a:schemeClr val="dk1"/>
                </a:solidFill>
              </a:rPr>
              <a:t>57% pass rate</a:t>
            </a:r>
            <a:r>
              <a:rPr lang="en">
                <a:solidFill>
                  <a:schemeClr val="dk1"/>
                </a:solidFill>
              </a:rPr>
              <a:t>. That evaluation led us to build </a:t>
            </a:r>
            <a:r>
              <a:rPr b="1" lang="en">
                <a:solidFill>
                  <a:schemeClr val="dk1"/>
                </a:solidFill>
              </a:rPr>
              <a:t>V2</a:t>
            </a:r>
            <a:r>
              <a:rPr lang="en">
                <a:solidFill>
                  <a:schemeClr val="dk1"/>
                </a:solidFill>
              </a:rPr>
              <a:t>, lifting overall performance to </a:t>
            </a:r>
            <a:r>
              <a:rPr b="1" lang="en">
                <a:solidFill>
                  <a:schemeClr val="dk1"/>
                </a:solidFill>
              </a:rPr>
              <a:t>86%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8b970e765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8b970e765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For Module 1 - VLM</a:t>
            </a:r>
            <a:r>
              <a:rPr lang="en">
                <a:solidFill>
                  <a:schemeClr val="dk1"/>
                </a:solidFill>
              </a:rPr>
              <a:t> This edge case is this restaurant receipt, the customer (or me) scribbled black ink across the grand total. In V1, the model panicked and </a:t>
            </a:r>
            <a:r>
              <a:rPr b="1" lang="en">
                <a:solidFill>
                  <a:schemeClr val="dk1"/>
                </a:solidFill>
              </a:rPr>
              <a:t>guess the subtotal as $39.25</a:t>
            </a:r>
            <a:r>
              <a:rPr lang="en">
                <a:solidFill>
                  <a:schemeClr val="dk1"/>
                </a:solidFill>
              </a:rPr>
              <a:t>, even </a:t>
            </a:r>
            <a:r>
              <a:rPr lang="en">
                <a:solidFill>
                  <a:schemeClr val="dk1"/>
                </a:solidFill>
              </a:rPr>
              <a:t>while our v1 prompt simply said 'don't guess,'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fa6bd630ca_1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fa6bd630ca_1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a6bd630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fa6bd630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For Module 1 - VLM</a:t>
            </a:r>
            <a:r>
              <a:rPr lang="en">
                <a:solidFill>
                  <a:schemeClr val="dk1"/>
                </a:solidFill>
              </a:rPr>
              <a:t> In one of the eval edge case is this restaurant receipt, the customer (or me) scribbled black ink across the grand total. In V1, the model panicked and </a:t>
            </a:r>
            <a:r>
              <a:rPr b="1" lang="en">
                <a:solidFill>
                  <a:schemeClr val="dk1"/>
                </a:solidFill>
              </a:rPr>
              <a:t>guess the subtotal as $39.25</a:t>
            </a:r>
            <a:r>
              <a:rPr lang="en">
                <a:solidFill>
                  <a:schemeClr val="dk1"/>
                </a:solidFill>
              </a:rPr>
              <a:t>, even while our v1 prompt simply said 'don't guess,'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For Module 2 - Querying </a:t>
            </a:r>
            <a:r>
              <a:rPr lang="en">
                <a:solidFill>
                  <a:schemeClr val="dk1"/>
                </a:solidFill>
              </a:rPr>
              <a:t> When testing in early September, asking 'How am I doing this month?' because V1’ model we didn’t have built the concept of time. it just searching the entire ledger!. Instead of reporting only september expense.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a6bd630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g3fa6bd630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For Module 1 - VLM</a:t>
            </a:r>
            <a:r>
              <a:rPr lang="en">
                <a:solidFill>
                  <a:schemeClr val="dk1"/>
                </a:solidFill>
              </a:rPr>
              <a:t> In one of the eval edge case is this restaurant receipt, the customer (or me) scribbled black ink across the grand total. In V1, the model panicked and </a:t>
            </a:r>
            <a:r>
              <a:rPr b="1" lang="en">
                <a:solidFill>
                  <a:schemeClr val="dk1"/>
                </a:solidFill>
              </a:rPr>
              <a:t>guess the subtotal as $39.25</a:t>
            </a:r>
            <a:r>
              <a:rPr lang="en">
                <a:solidFill>
                  <a:schemeClr val="dk1"/>
                </a:solidFill>
              </a:rPr>
              <a:t>, even while our v1 prompt simply said 'don't guess,'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For Module 2 - Querying </a:t>
            </a:r>
            <a:r>
              <a:rPr lang="en">
                <a:solidFill>
                  <a:schemeClr val="dk1"/>
                </a:solidFill>
              </a:rPr>
              <a:t> When testing in early September, asking 'How am I doing this month?' because V1’ model we didn’t have built the concept of time. it just searching the entire ledger!. Instead of reporting only september expense.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" name="Google Shape;36;p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8" name="Google Shape;38;p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9" name="Google Shape;39;p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" name="Google Shape;40;p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1" name="Google Shape;41;p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2" name="Google Shape;42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" name="Google Shape;43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4" name="Google Shape;44;p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" name="Google Shape;45;p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6" name="Google Shape;46;p3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" name="Google Shape;51;p3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"/>
          <p:cNvSpPr txBox="1"/>
          <p:nvPr>
            <p:ph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" name="Google Shape;53;p3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idx="8" type="title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" name="Google Shape;55;p3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13" type="title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" name="Google Shape;57;p3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62" name="Google Shape;62;p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" name="Google Shape;63;p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64" name="Google Shape;64;p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" name="Google Shape;65;p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6" name="Google Shape;66;p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67" name="Google Shape;6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8" name="Google Shape;6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9" name="Google Shape;69;p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0" name="Google Shape;70;p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1" name="Google Shape;71;p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72" name="Google Shape;72;p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" name="Google Shape;73;p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5" name="Google Shape;75;p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" name="Google Shape;76;p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7" name="Google Shape;7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9" name="Google Shape;79;p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" name="Google Shape;80;p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81" name="Google Shape;81;p4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4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AND_TWO_COLUMNS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6" name="Google Shape;8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8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9" name="Google Shape;8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0" name="Google Shape;9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1" name="Google Shape;9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2" name="Google Shape;9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4" name="Google Shape;9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5" name="Google Shape;9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96" name="Google Shape;96;p5"/>
          <p:cNvSpPr txBox="1"/>
          <p:nvPr>
            <p:ph idx="1" type="subTitle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914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5"/>
          <p:cNvSpPr/>
          <p:nvPr>
            <p:ph idx="2" type="pic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6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02" name="Google Shape;102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" name="Google Shape;103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04" name="Google Shape;104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05" name="Google Shape;105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6" name="Google Shape;106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7" name="Google Shape;107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8" name="Google Shape;108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9" name="Google Shape;109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0" name="Google Shape;110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1" name="Google Shape;111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12" name="Google Shape;112;p6"/>
          <p:cNvSpPr txBox="1"/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"/>
          <p:cNvSpPr txBox="1"/>
          <p:nvPr>
            <p:ph idx="2" type="subTitle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"/>
          <p:cNvSpPr txBox="1"/>
          <p:nvPr>
            <p:ph idx="3" type="subTitle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"/>
          <p:cNvSpPr txBox="1"/>
          <p:nvPr>
            <p:ph idx="4" type="subTitle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"/>
          <p:cNvSpPr txBox="1"/>
          <p:nvPr>
            <p:ph idx="5" type="subTitle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"/>
          <p:cNvSpPr txBox="1"/>
          <p:nvPr>
            <p:ph idx="6" type="subTitle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"/>
          <p:cNvSpPr txBox="1"/>
          <p:nvPr>
            <p:ph idx="7" type="subTitle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6"/>
          <p:cNvSpPr txBox="1"/>
          <p:nvPr>
            <p:ph idx="8" type="subTitle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1" name="Google Shape;121;p6"/>
          <p:cNvSpPr txBox="1"/>
          <p:nvPr>
            <p:ph idx="9" type="subTitle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" name="Google Shape;122;p6"/>
          <p:cNvSpPr txBox="1"/>
          <p:nvPr>
            <p:ph idx="13" type="subTitle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" name="Google Shape;123;p6"/>
          <p:cNvSpPr txBox="1"/>
          <p:nvPr>
            <p:ph idx="14" type="subTitle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6"/>
          <p:cNvSpPr txBox="1"/>
          <p:nvPr>
            <p:ph idx="15" type="subTitle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7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28" name="Google Shape;128;p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" name="Google Shape;129;p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0" name="Google Shape;130;p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31" name="Google Shape;131;p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2" name="Google Shape;132;p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3" name="Google Shape;133;p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4" name="Google Shape;134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6" name="Google Shape;136;p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7" name="Google Shape;137;p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38" name="Google Shape;138;p7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7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0" name="Google Shape;140;p7"/>
          <p:cNvSpPr txBox="1"/>
          <p:nvPr>
            <p:ph idx="2" type="subTitle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"/>
          <p:cNvSpPr txBox="1"/>
          <p:nvPr>
            <p:ph idx="5" type="subTitle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7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7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8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50" name="Google Shape;150;p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" name="Google Shape;151;p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52" name="Google Shape;152;p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53" name="Google Shape;153;p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4" name="Google Shape;154;p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55" name="Google Shape;155;p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6" name="Google Shape;156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8" name="Google Shape;158;p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9" name="Google Shape;159;p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8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9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9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64" name="Google Shape;164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" name="Google Shape;165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66" name="Google Shape;166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7" name="Google Shape;167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8" name="Google Shape;168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9" name="Google Shape;169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0" name="Google Shape;170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1" name="Google Shape;171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" name="Google Shape;172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73" name="Google Shape;173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74" name="Google Shape;174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" name="Google Shape;175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76" name="Google Shape;176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7" name="Google Shape;177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78" name="Google Shape;178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9" name="Google Shape;179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0" name="Google Shape;180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1" name="Google Shape;181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2" name="Google Shape;182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83" name="Google Shape;183;p9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0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7" name="Google Shape;187;p1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" name="Google Shape;188;p1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9" name="Google Shape;189;p1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90" name="Google Shape;190;p1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1" name="Google Shape;191;p1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2" name="Google Shape;192;p1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3" name="Google Shape;193;p1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4" name="Google Shape;194;p1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5" name="Google Shape;195;p1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6" name="Google Shape;196;p1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97" name="Google Shape;197;p10"/>
          <p:cNvSpPr txBox="1"/>
          <p:nvPr>
            <p:ph idx="1" type="subTitle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0"/>
          <p:cNvSpPr txBox="1"/>
          <p:nvPr>
            <p:ph idx="2" type="subTitle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0"/>
          <p:cNvSpPr txBox="1"/>
          <p:nvPr>
            <p:ph idx="3" type="subTitle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0"/>
          <p:cNvSpPr txBox="1"/>
          <p:nvPr>
            <p:ph idx="4" type="subTitle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1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05" name="Google Shape;205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" name="Google Shape;206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8" name="Google Shape;208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09" name="Google Shape;209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11" name="Google Shape;211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" name="Google Shape;212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14" name="Google Shape;214;p11"/>
          <p:cNvSpPr txBox="1"/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11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11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2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2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0" name="Google Shape;220;p12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1" name="Google Shape;221;p12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12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24" name="Google Shape;224;p12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5" name="Google Shape;225;p1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1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7" name="Google Shape;227;p12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8" name="Google Shape;228;p12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29" name="Google Shape;229;p12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30" name="Google Shape;230;p12"/>
          <p:cNvSpPr txBox="1"/>
          <p:nvPr>
            <p:ph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1" name="Google Shape;231;p12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3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5" name="Google Shape;235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" name="Google Shape;236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7" name="Google Shape;237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8" name="Google Shape;238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" name="Google Shape;239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40" name="Google Shape;240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1" name="Google Shape;241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2" name="Google Shape;242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3" name="Google Shape;243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4" name="Google Shape;244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45" name="Google Shape;245;p13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4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250" name="Google Shape;250;p14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" name="Google Shape;251;p14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4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53" name="Google Shape;253;p14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5" name="Google Shape;255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56" name="Google Shape;256;p14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7" name="Google Shape;257;p14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14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59" name="Google Shape;259;p14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60" name="Google Shape;260;p14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14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62" name="Google Shape;262;p14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63" name="Google Shape;263;p14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4" name="Google Shape;264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5" name="Google Shape;265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66" name="Google Shape;266;p14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7" name="Google Shape;267;p14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14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69" name="Google Shape;269;p14"/>
          <p:cNvSpPr txBox="1"/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6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16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76" name="Google Shape;276;p16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16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78" name="Google Shape;278;p16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9" name="Google Shape;279;p16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0" name="Google Shape;280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1" name="Google Shape;281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82" name="Google Shape;282;p16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3" name="Google Shape;283;p16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16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85" name="Google Shape;285;p16"/>
          <p:cNvSpPr txBox="1"/>
          <p:nvPr>
            <p:ph hasCustomPrompt="1" type="title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6" name="Google Shape;286;p16"/>
          <p:cNvSpPr txBox="1"/>
          <p:nvPr>
            <p:ph idx="1" type="subTitle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8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8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91" name="Google Shape;291;p1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" name="Google Shape;292;p1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93" name="Google Shape;293;p1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4" name="Google Shape;294;p1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95" name="Google Shape;295;p1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96" name="Google Shape;29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7" name="Google Shape;29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98" name="Google Shape;298;p1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9" name="Google Shape;299;p1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00" name="Google Shape;300;p1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01" name="Google Shape;301;p1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1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03" name="Google Shape;303;p1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4" name="Google Shape;304;p1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05" name="Google Shape;305;p1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7" name="Google Shape;30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08" name="Google Shape;308;p1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9" name="Google Shape;309;p1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10" name="Google Shape;310;p18"/>
          <p:cNvSpPr txBox="1"/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1" name="Google Shape;311;p18"/>
          <p:cNvSpPr txBox="1"/>
          <p:nvPr>
            <p:ph idx="1" type="subTitle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9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15" name="Google Shape;315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" name="Google Shape;316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17" name="Google Shape;317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18" name="Google Shape;318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" name="Google Shape;319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20" name="Google Shape;320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1" name="Google Shape;321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2" name="Google Shape;322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3" name="Google Shape;323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4" name="Google Shape;324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25" name="Google Shape;325;p19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0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0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329" name="Google Shape;329;p20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20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331" name="Google Shape;331;p20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2" name="Google Shape;332;p20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33" name="Google Shape;333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4" name="Google Shape;334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35" name="Google Shape;335;p20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6" name="Google Shape;336;p20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0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38" name="Google Shape;338;p20"/>
          <p:cNvSpPr txBox="1"/>
          <p:nvPr>
            <p:ph idx="1" type="subTitle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9" name="Google Shape;339;p20"/>
          <p:cNvSpPr txBox="1"/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1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3" name="Google Shape;343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5" name="Google Shape;345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6" name="Google Shape;346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7" name="Google Shape;347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48" name="Google Shape;348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9" name="Google Shape;349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0" name="Google Shape;350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51" name="Google Shape;351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2" name="Google Shape;352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53" name="Google Shape;353;p21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subTitle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5" name="Google Shape;355;p21"/>
          <p:cNvSpPr txBox="1"/>
          <p:nvPr>
            <p:ph idx="2" type="subTitle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3" type="subTitle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1"/>
          <p:cNvSpPr txBox="1"/>
          <p:nvPr>
            <p:ph idx="4" type="subTitle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5" type="subTitle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9" name="Google Shape;359;p21"/>
          <p:cNvSpPr txBox="1"/>
          <p:nvPr>
            <p:ph idx="6" type="subTitle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2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3" name="Google Shape;363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65" name="Google Shape;365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66" name="Google Shape;366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7" name="Google Shape;367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68" name="Google Shape;368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69" name="Google Shape;369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0" name="Google Shape;370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71" name="Google Shape;371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2" name="Google Shape;372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73" name="Google Shape;373;p22"/>
          <p:cNvSpPr txBox="1"/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4" name="Google Shape;374;p22"/>
          <p:cNvSpPr txBox="1"/>
          <p:nvPr>
            <p:ph idx="1" type="subTitle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5" name="Google Shape;375;p22"/>
          <p:cNvSpPr txBox="1"/>
          <p:nvPr>
            <p:ph idx="2" type="subTitle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6" name="Google Shape;376;p22"/>
          <p:cNvSpPr txBox="1"/>
          <p:nvPr>
            <p:ph idx="3" type="subTitle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7" name="Google Shape;377;p22"/>
          <p:cNvSpPr txBox="1"/>
          <p:nvPr>
            <p:ph idx="4" type="subTitle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2"/>
          <p:cNvSpPr txBox="1"/>
          <p:nvPr>
            <p:ph idx="5" type="subTitle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2"/>
          <p:cNvSpPr txBox="1"/>
          <p:nvPr>
            <p:ph idx="6" type="subTitle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3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2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83" name="Google Shape;383;p2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4" name="Google Shape;384;p2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85" name="Google Shape;385;p2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86" name="Google Shape;386;p2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7" name="Google Shape;387;p2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88" name="Google Shape;388;p2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89" name="Google Shape;389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0" name="Google Shape;390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91" name="Google Shape;391;p2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2" name="Google Shape;392;p2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23"/>
          <p:cNvSpPr txBox="1"/>
          <p:nvPr>
            <p:ph type="title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94" name="Google Shape;394;p23"/>
          <p:cNvSpPr txBox="1"/>
          <p:nvPr>
            <p:ph idx="1" type="subTitle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3"/>
          <p:cNvSpPr txBox="1"/>
          <p:nvPr>
            <p:ph idx="2" type="title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96" name="Google Shape;396;p23"/>
          <p:cNvSpPr txBox="1"/>
          <p:nvPr>
            <p:ph idx="3" type="subTitle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3"/>
          <p:cNvSpPr txBox="1"/>
          <p:nvPr>
            <p:ph idx="4" type="title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98" name="Google Shape;398;p23"/>
          <p:cNvSpPr txBox="1"/>
          <p:nvPr>
            <p:ph idx="5" type="subTitle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b="0" i="0" sz="3500" u="none" cap="none" strike="noStrik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youtube.com/watch?v=YIqjvI4ynRM" TargetMode="External"/><Relationship Id="rId4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OUTFLOW</a:t>
            </a:r>
            <a:endParaRPr/>
          </a:p>
        </p:txBody>
      </p:sp>
      <p:sp>
        <p:nvSpPr>
          <p:cNvPr id="407" name="Google Shape;407;p26"/>
          <p:cNvSpPr txBox="1"/>
          <p:nvPr>
            <p:ph idx="1" type="subTitle"/>
          </p:nvPr>
        </p:nvSpPr>
        <p:spPr>
          <a:xfrm>
            <a:off x="1828800" y="3414800"/>
            <a:ext cx="5486400" cy="82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An expense tracker you talk to, instead of maintaining 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Dechasiripong Puri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Guo Chengxi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Marcus Tay Wei Xian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Melgwyn Carmichael Wullur</a:t>
            </a:r>
            <a:endParaRPr sz="1900"/>
          </a:p>
        </p:txBody>
      </p:sp>
      <p:sp>
        <p:nvSpPr>
          <p:cNvPr id="408" name="Google Shape;408;p26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26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0" name="Google Shape;410;p26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1" name="Google Shape;411;p26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2" name="Google Shape;412;p26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3" name="Google Shape;413;p26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4" name="Google Shape;414;p26"/>
            <p:cNvGrpSpPr/>
            <p:nvPr/>
          </p:nvGrpSpPr>
          <p:grpSpPr>
            <a:xfrm>
              <a:off x="447057" y="1555937"/>
              <a:ext cx="1391435" cy="587426"/>
              <a:chOff x="817139" y="2952501"/>
              <a:chExt cx="1391435" cy="587426"/>
            </a:xfrm>
          </p:grpSpPr>
          <p:sp>
            <p:nvSpPr>
              <p:cNvPr id="415" name="Google Shape;415;p26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rect b="b" l="l" r="r" t="t"/>
                <a:pathLst>
                  <a:path extrusionOk="0" h="8733" w="8732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rect b="b" l="l" r="r" t="t"/>
                <a:pathLst>
                  <a:path extrusionOk="0" h="9886" w="19556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rect b="b" l="l" r="r" t="t"/>
                <a:pathLst>
                  <a:path extrusionOk="0" h="5928" w="4318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rect b="b" l="l" r="r" t="t"/>
                <a:pathLst>
                  <a:path extrusionOk="0" h="5854" w="344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rect b="b" l="l" r="r" t="t"/>
                <a:pathLst>
                  <a:path extrusionOk="0" h="3028" w="2977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0" name="Google Shape;420;p26"/>
          <p:cNvSpPr/>
          <p:nvPr/>
        </p:nvSpPr>
        <p:spPr>
          <a:xfrm>
            <a:off x="1099325" y="425927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6"/>
          <p:cNvGrpSpPr/>
          <p:nvPr/>
        </p:nvGrpSpPr>
        <p:grpSpPr>
          <a:xfrm>
            <a:off x="6761147" y="3414805"/>
            <a:ext cx="689547" cy="208288"/>
            <a:chOff x="6761147" y="3414805"/>
            <a:chExt cx="689547" cy="208288"/>
          </a:xfrm>
        </p:grpSpPr>
        <p:sp>
          <p:nvSpPr>
            <p:cNvPr id="422" name="Google Shape;422;p26"/>
            <p:cNvSpPr/>
            <p:nvPr/>
          </p:nvSpPr>
          <p:spPr>
            <a:xfrm>
              <a:off x="6993487" y="3563457"/>
              <a:ext cx="457207" cy="59636"/>
            </a:xfrm>
            <a:custGeom>
              <a:rect b="b" l="l" r="r" t="t"/>
              <a:pathLst>
                <a:path extrusionOk="0" h="952" w="8294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6761147" y="3414805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25" name="Google Shape;425;p26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" name="Google Shape;427;p26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28" name="Google Shape;428;p26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fmla="val 0" name="adj"/>
                </a:avLst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9" name="Google Shape;429;p26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0" name="Google Shape;430;p26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rect b="b" l="l" r="r" t="t"/>
                  <a:pathLst>
                    <a:path extrusionOk="0" h="9055" w="9781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rect b="b" l="l" r="r" t="t"/>
                  <a:pathLst>
                    <a:path extrusionOk="0" h="4074" w="3513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" name="Google Shape;432;p26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3" name="Google Shape;433;p26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rect b="b" l="l" r="r" t="t"/>
                <a:pathLst>
                  <a:path extrusionOk="0" h="2074" w="23391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rect b="b" l="l" r="r" t="t"/>
                <a:pathLst>
                  <a:path extrusionOk="0" h="2074" w="11977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5" name="Google Shape;435;p26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36" name="Google Shape;436;p26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37" name="Google Shape;437;p26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26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0" name="Google Shape;440;p26"/>
            <p:cNvSpPr/>
            <p:nvPr/>
          </p:nvSpPr>
          <p:spPr>
            <a:xfrm>
              <a:off x="7540474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8009987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8479499" y="1687769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26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rect b="b" l="l" r="r" t="t"/>
                <a:pathLst>
                  <a:path extrusionOk="0" h="1343" w="21415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rect b="b" l="l" r="r" t="t"/>
                <a:pathLst>
                  <a:path extrusionOk="0" h="1367" w="16611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26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47" name="Google Shape;447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202911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129912" y="3708819"/>
              <a:ext cx="120228" cy="373356"/>
            </a:xfrm>
            <a:custGeom>
              <a:rect b="b" l="l" r="r" t="t"/>
              <a:pathLst>
                <a:path extrusionOk="0" h="4269" w="1367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806080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806080" y="4150392"/>
              <a:ext cx="767979" cy="684792"/>
            </a:xfrm>
            <a:custGeom>
              <a:rect b="b" l="l" r="r" t="t"/>
              <a:pathLst>
                <a:path extrusionOk="0" h="7830" w="8732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505371" y="4248519"/>
              <a:ext cx="34388" cy="266658"/>
            </a:xfrm>
            <a:custGeom>
              <a:rect b="b" l="l" r="r" t="t"/>
              <a:pathLst>
                <a:path extrusionOk="0" h="3049" w="391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202911" y="3533904"/>
              <a:ext cx="371149" cy="633630"/>
            </a:xfrm>
            <a:custGeom>
              <a:rect b="b" l="l" r="r" t="t"/>
              <a:pathLst>
                <a:path extrusionOk="0" h="7245" w="422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29471" y="4150392"/>
              <a:ext cx="246788" cy="667738"/>
            </a:xfrm>
            <a:custGeom>
              <a:rect b="b" l="l" r="r" t="t"/>
              <a:pathLst>
                <a:path extrusionOk="0" h="7635" w="2806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138531" y="3728060"/>
              <a:ext cx="111609" cy="373356"/>
            </a:xfrm>
            <a:custGeom>
              <a:rect b="b" l="l" r="r" t="t"/>
              <a:pathLst>
                <a:path extrusionOk="0" h="4269" w="1269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7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3" name="Google Shape;4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8"/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469" name="Google Shape;469;p28"/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0" name="Google Shape;470;p28"/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471" name="Google Shape;471;p28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2" name="Google Shape;472;p28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73" name="Google Shape;473;p28"/>
            <p:cNvGrpSpPr/>
            <p:nvPr/>
          </p:nvGrpSpPr>
          <p:grpSpPr>
            <a:xfrm>
              <a:off x="7300659" y="2505003"/>
              <a:ext cx="1428933" cy="514596"/>
              <a:chOff x="7235888" y="1483625"/>
              <a:chExt cx="1428933" cy="514596"/>
            </a:xfrm>
          </p:grpSpPr>
          <p:sp>
            <p:nvSpPr>
              <p:cNvPr id="474" name="Google Shape;474;p28"/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rect b="b" l="l" r="r" t="t"/>
                <a:pathLst>
                  <a:path extrusionOk="0" h="3342" w="37658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rect b="b" l="l" r="r" t="t"/>
                <a:pathLst>
                  <a:path extrusionOk="0" h="3342" w="23146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rect b="b" l="l" r="r" t="t"/>
                <a:pathLst>
                  <a:path extrusionOk="0" h="8635" w="15854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rect b="b" l="l" r="r" t="t"/>
                <a:pathLst>
                  <a:path extrusionOk="0" h="1493" w="10449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8" name="Google Shape;478;p28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Problem &amp; user</a:t>
            </a:r>
            <a:endParaRPr/>
          </a:p>
        </p:txBody>
      </p:sp>
      <p:sp>
        <p:nvSpPr>
          <p:cNvPr id="479" name="Google Shape;479;p28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Grad student on a budget. Manual logging gets abandoned; logged data goes uninterrogated. Goal: log an expense in seconds, then ask questions in plain English.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i="1" lang="en" sz="1300"/>
              <a:t>Success criteria: pick 3 of 4 (extraction, grounding, arithmetic, speed)</a:t>
            </a:r>
            <a:endParaRPr i="1" sz="1400"/>
          </a:p>
        </p:txBody>
      </p:sp>
      <p:grpSp>
        <p:nvGrpSpPr>
          <p:cNvPr id="480" name="Google Shape;480;p28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481" name="Google Shape;481;p28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28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484" name="Google Shape;484;p28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28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487" name="Google Shape;487;p28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45925" y="2446300"/>
              <a:ext cx="338328" cy="225549"/>
            </a:xfrm>
            <a:custGeom>
              <a:rect b="b" l="l" r="r" t="t"/>
              <a:pathLst>
                <a:path extrusionOk="0" h="5806" w="8708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55887" y="2446307"/>
              <a:ext cx="318435" cy="106170"/>
            </a:xfrm>
            <a:custGeom>
              <a:rect b="b" l="l" r="r" t="t"/>
              <a:pathLst>
                <a:path extrusionOk="0" h="2733" w="8196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" name="Google Shape;490;p28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491" name="Google Shape;491;p28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rect b="b" l="l" r="r" t="t"/>
                <a:pathLst>
                  <a:path extrusionOk="0" h="8777" w="9635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rect b="b" l="l" r="r" t="t"/>
                <a:pathLst>
                  <a:path extrusionOk="0" h="3757" w="2196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3" name="Google Shape;493;p28"/>
          <p:cNvSpPr txBox="1"/>
          <p:nvPr/>
        </p:nvSpPr>
        <p:spPr>
          <a:xfrm>
            <a:off x="1646925" y="3755475"/>
            <a:ext cx="1188600" cy="365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USER</a:t>
            </a:r>
            <a:endParaRPr b="1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4" name="Google Shape;494;p28"/>
          <p:cNvSpPr/>
          <p:nvPr/>
        </p:nvSpPr>
        <p:spPr>
          <a:xfrm rot="-2700000">
            <a:off x="2645303" y="3927767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1646925" y="1381650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7031613" y="405820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6799273" y="3909555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28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499" name="Google Shape;499;p28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8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fmla="val 42536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1" name="Google Shape;5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9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8" name="Google Shape;5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"/>
          <p:cNvSpPr txBox="1"/>
          <p:nvPr>
            <p:ph type="title"/>
          </p:nvPr>
        </p:nvSpPr>
        <p:spPr>
          <a:xfrm>
            <a:off x="355400" y="621950"/>
            <a:ext cx="34554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600"/>
              <a:t>System architecture (v1)</a:t>
            </a:r>
            <a:endParaRPr sz="3600"/>
          </a:p>
        </p:txBody>
      </p:sp>
      <p:sp>
        <p:nvSpPr>
          <p:cNvPr id="515" name="Google Shape;515;p30"/>
          <p:cNvSpPr txBox="1"/>
          <p:nvPr>
            <p:ph idx="1" type="subTitle"/>
          </p:nvPr>
        </p:nvSpPr>
        <p:spPr>
          <a:xfrm>
            <a:off x="605700" y="2448875"/>
            <a:ext cx="29286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VLLM -&gt; Human Review -&gt; Master table -&gt; Category, Query and Summary Tabs</a:t>
            </a:r>
            <a:endParaRPr sz="1800"/>
          </a:p>
        </p:txBody>
      </p:sp>
      <p:pic>
        <p:nvPicPr>
          <p:cNvPr id="516" name="Google Shape;51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175" y="779925"/>
            <a:ext cx="5183575" cy="39094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7" name="Google Shape;517;p30"/>
          <p:cNvSpPr/>
          <p:nvPr/>
        </p:nvSpPr>
        <p:spPr>
          <a:xfrm>
            <a:off x="1500283" y="4312580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1964428" y="4161752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714314" y="400843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1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"/>
              <a:t>AI Usage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1"/>
          <p:cNvSpPr txBox="1"/>
          <p:nvPr>
            <p:ph idx="1" type="subTitle"/>
          </p:nvPr>
        </p:nvSpPr>
        <p:spPr>
          <a:xfrm>
            <a:off x="649776" y="1926350"/>
            <a:ext cx="34410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VLLM Extraction (Module 1)</a:t>
            </a:r>
            <a:endParaRPr/>
          </a:p>
        </p:txBody>
      </p:sp>
      <p:sp>
        <p:nvSpPr>
          <p:cNvPr id="526" name="Google Shape;526;p31"/>
          <p:cNvSpPr txBox="1"/>
          <p:nvPr>
            <p:ph idx="2" type="subTitle"/>
          </p:nvPr>
        </p:nvSpPr>
        <p:spPr>
          <a:xfrm>
            <a:off x="649776" y="3076597"/>
            <a:ext cx="3251700" cy="9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RAG Chat and calculator Tool</a:t>
            </a:r>
            <a:br>
              <a:rPr lang="en"/>
            </a:br>
            <a:r>
              <a:rPr lang="en"/>
              <a:t>(Module 2)</a:t>
            </a:r>
            <a:endParaRPr/>
          </a:p>
        </p:txBody>
      </p:sp>
      <p:sp>
        <p:nvSpPr>
          <p:cNvPr id="527" name="Google Shape;527;p31"/>
          <p:cNvSpPr txBox="1"/>
          <p:nvPr>
            <p:ph idx="3" type="subTitle"/>
          </p:nvPr>
        </p:nvSpPr>
        <p:spPr>
          <a:xfrm>
            <a:off x="937013" y="1209759"/>
            <a:ext cx="2559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Where it was used?</a:t>
            </a:r>
            <a:endParaRPr sz="2000"/>
          </a:p>
        </p:txBody>
      </p:sp>
      <p:sp>
        <p:nvSpPr>
          <p:cNvPr id="528" name="Google Shape;528;p31"/>
          <p:cNvSpPr txBox="1"/>
          <p:nvPr>
            <p:ph idx="4" type="subTitle"/>
          </p:nvPr>
        </p:nvSpPr>
        <p:spPr>
          <a:xfrm>
            <a:off x="5529468" y="1209759"/>
            <a:ext cx="304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Where it was not used?</a:t>
            </a:r>
            <a:endParaRPr sz="2000"/>
          </a:p>
        </p:txBody>
      </p:sp>
      <p:sp>
        <p:nvSpPr>
          <p:cNvPr id="529" name="Google Shape;529;p31"/>
          <p:cNvSpPr txBox="1"/>
          <p:nvPr>
            <p:ph idx="1" type="subTitle"/>
          </p:nvPr>
        </p:nvSpPr>
        <p:spPr>
          <a:xfrm>
            <a:off x="4982300" y="1747775"/>
            <a:ext cx="35421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Category table (rule based)</a:t>
            </a:r>
            <a:endParaRPr/>
          </a:p>
        </p:txBody>
      </p:sp>
      <p:sp>
        <p:nvSpPr>
          <p:cNvPr id="530" name="Google Shape;530;p31"/>
          <p:cNvSpPr txBox="1"/>
          <p:nvPr>
            <p:ph idx="2" type="subTitle"/>
          </p:nvPr>
        </p:nvSpPr>
        <p:spPr>
          <a:xfrm>
            <a:off x="4982300" y="3588577"/>
            <a:ext cx="3347100" cy="97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Graphs and </a:t>
            </a:r>
            <a:r>
              <a:rPr lang="en"/>
              <a:t>Visualizations</a:t>
            </a:r>
            <a:br>
              <a:rPr lang="en"/>
            </a:br>
            <a:r>
              <a:rPr lang="en"/>
              <a:t>(Python-drawn)</a:t>
            </a:r>
            <a:endParaRPr/>
          </a:p>
        </p:txBody>
      </p:sp>
      <p:cxnSp>
        <p:nvCxnSpPr>
          <p:cNvPr id="531" name="Google Shape;531;p31"/>
          <p:cNvCxnSpPr>
            <a:stCxn id="524" idx="2"/>
          </p:cNvCxnSpPr>
          <p:nvPr/>
        </p:nvCxnSpPr>
        <p:spPr>
          <a:xfrm flipH="1">
            <a:off x="4559982" y="1417320"/>
            <a:ext cx="12000" cy="2773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31"/>
          <p:cNvSpPr txBox="1"/>
          <p:nvPr/>
        </p:nvSpPr>
        <p:spPr>
          <a:xfrm>
            <a:off x="4982300" y="2450311"/>
            <a:ext cx="366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bik Black"/>
              <a:buChar char="●"/>
            </a:pPr>
            <a:r>
              <a:rPr lang="en"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Date/category</a:t>
            </a:r>
            <a:r>
              <a:rPr lang="en"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 filter (rule based)</a:t>
            </a:r>
            <a:endParaRPr sz="240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32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538" name="Google Shape;538;p32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2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32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1" name="Google Shape;541;p32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542" name="Google Shape;542;p32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2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4" name="Google Shape;544;p32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5" name="Google Shape;545;p32"/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546" name="Google Shape;546;p32"/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32"/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9" name="Google Shape;549;p32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550" name="Google Shape;550;p32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2" name="Google Shape;552;p32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53" name="Google Shape;553;p32"/>
          <p:cNvSpPr txBox="1"/>
          <p:nvPr>
            <p:ph idx="2" type="subTitle"/>
          </p:nvPr>
        </p:nvSpPr>
        <p:spPr>
          <a:xfrm>
            <a:off x="5918600" y="3855625"/>
            <a:ext cx="245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Read image from receipts in standardized format</a:t>
            </a:r>
            <a:endParaRPr/>
          </a:p>
        </p:txBody>
      </p:sp>
      <p:sp>
        <p:nvSpPr>
          <p:cNvPr id="554" name="Google Shape;554;p32"/>
          <p:cNvSpPr txBox="1"/>
          <p:nvPr>
            <p:ph idx="3" type="subTitle"/>
          </p:nvPr>
        </p:nvSpPr>
        <p:spPr>
          <a:xfrm>
            <a:off x="1878800" y="235837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Qwen-VL via OpenRouter</a:t>
            </a:r>
            <a:endParaRPr/>
          </a:p>
        </p:txBody>
      </p:sp>
      <p:sp>
        <p:nvSpPr>
          <p:cNvPr id="555" name="Google Shape;555;p32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Emit JSON only; leave unreadable fields null</a:t>
            </a:r>
            <a:endParaRPr/>
          </a:p>
        </p:txBody>
      </p:sp>
      <p:sp>
        <p:nvSpPr>
          <p:cNvPr id="556" name="Google Shape;556;p32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Vision Extraction (Module 1)</a:t>
            </a:r>
            <a:endParaRPr/>
          </a:p>
        </p:txBody>
      </p:sp>
      <p:sp>
        <p:nvSpPr>
          <p:cNvPr id="557" name="Google Shape;557;p32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558" name="Google Shape;558;p32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Prompt</a:t>
            </a:r>
            <a:endParaRPr/>
          </a:p>
        </p:txBody>
      </p:sp>
      <p:sp>
        <p:nvSpPr>
          <p:cNvPr id="559" name="Google Shape;559;p32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560" name="Google Shape;560;p32"/>
          <p:cNvSpPr txBox="1"/>
          <p:nvPr>
            <p:ph idx="8" type="subTitle"/>
          </p:nvPr>
        </p:nvSpPr>
        <p:spPr>
          <a:xfrm>
            <a:off x="5918600" y="1804550"/>
            <a:ext cx="286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Input/Output</a:t>
            </a:r>
            <a:endParaRPr/>
          </a:p>
        </p:txBody>
      </p:sp>
      <p:grpSp>
        <p:nvGrpSpPr>
          <p:cNvPr id="561" name="Google Shape;561;p32"/>
          <p:cNvGrpSpPr/>
          <p:nvPr/>
        </p:nvGrpSpPr>
        <p:grpSpPr>
          <a:xfrm>
            <a:off x="5085306" y="2100976"/>
            <a:ext cx="502899" cy="502899"/>
            <a:chOff x="858700" y="1967475"/>
            <a:chExt cx="605100" cy="605100"/>
          </a:xfrm>
        </p:grpSpPr>
        <p:sp>
          <p:nvSpPr>
            <p:cNvPr id="562" name="Google Shape;562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32"/>
          <p:cNvGrpSpPr/>
          <p:nvPr/>
        </p:nvGrpSpPr>
        <p:grpSpPr>
          <a:xfrm>
            <a:off x="5085356" y="3694821"/>
            <a:ext cx="502800" cy="502800"/>
            <a:chOff x="7014301" y="2017350"/>
            <a:chExt cx="502800" cy="502800"/>
          </a:xfrm>
        </p:grpSpPr>
        <p:sp>
          <p:nvSpPr>
            <p:cNvPr id="565" name="Google Shape;565;p32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32"/>
          <p:cNvGrpSpPr/>
          <p:nvPr/>
        </p:nvGrpSpPr>
        <p:grpSpPr>
          <a:xfrm>
            <a:off x="1045556" y="3694821"/>
            <a:ext cx="502800" cy="502800"/>
            <a:chOff x="1627550" y="2017350"/>
            <a:chExt cx="502800" cy="502800"/>
          </a:xfrm>
        </p:grpSpPr>
        <p:sp>
          <p:nvSpPr>
            <p:cNvPr id="568" name="Google Shape;568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0" name="Google Shape;570;p32"/>
          <p:cNvGrpSpPr/>
          <p:nvPr/>
        </p:nvGrpSpPr>
        <p:grpSpPr>
          <a:xfrm>
            <a:off x="1046025" y="2101025"/>
            <a:ext cx="502800" cy="502800"/>
            <a:chOff x="463701" y="2307675"/>
            <a:chExt cx="502800" cy="502800"/>
          </a:xfrm>
        </p:grpSpPr>
        <p:sp>
          <p:nvSpPr>
            <p:cNvPr id="571" name="Google Shape;571;p32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545925" y="2446300"/>
              <a:ext cx="338328" cy="225549"/>
            </a:xfrm>
            <a:custGeom>
              <a:rect b="b" l="l" r="r" t="t"/>
              <a:pathLst>
                <a:path extrusionOk="0" h="5806" w="8708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555887" y="2446307"/>
              <a:ext cx="318435" cy="106170"/>
            </a:xfrm>
            <a:custGeom>
              <a:rect b="b" l="l" r="r" t="t"/>
              <a:pathLst>
                <a:path extrusionOk="0" h="2733" w="8196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p32"/>
          <p:cNvSpPr/>
          <p:nvPr/>
        </p:nvSpPr>
        <p:spPr>
          <a:xfrm>
            <a:off x="739904" y="10903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507564" y="941661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7971748" y="1042351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7" name="Google Shape;5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421" y="1864531"/>
            <a:ext cx="502899" cy="50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600" y="229740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2125" y="2308425"/>
            <a:ext cx="502900" cy="5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2"/>
          <p:cNvSpPr/>
          <p:nvPr/>
        </p:nvSpPr>
        <p:spPr>
          <a:xfrm>
            <a:off x="6786575" y="2405075"/>
            <a:ext cx="322200" cy="3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3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586" name="Google Shape;586;p33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8" name="Google Shape;588;p33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9" name="Google Shape;589;p33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590" name="Google Shape;590;p33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2" name="Google Shape;592;p33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3" name="Google Shape;593;p33"/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594" name="Google Shape;594;p33"/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6" name="Google Shape;596;p33"/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7" name="Google Shape;597;p33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598" name="Google Shape;598;p33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33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1" name="Google Shape;601;p33"/>
          <p:cNvSpPr txBox="1"/>
          <p:nvPr>
            <p:ph idx="2" type="subTitle"/>
          </p:nvPr>
        </p:nvSpPr>
        <p:spPr>
          <a:xfrm>
            <a:off x="5918600" y="3855625"/>
            <a:ext cx="260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Calling the tool reduces the </a:t>
            </a:r>
            <a:r>
              <a:rPr lang="en"/>
              <a:t>hallucinations</a:t>
            </a:r>
            <a:r>
              <a:rPr lang="en"/>
              <a:t> from LLM</a:t>
            </a:r>
            <a:endParaRPr/>
          </a:p>
        </p:txBody>
      </p:sp>
      <p:sp>
        <p:nvSpPr>
          <p:cNvPr id="602" name="Google Shape;602;p33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DeepSeek Chat, one prompt, two tabs</a:t>
            </a:r>
            <a:endParaRPr/>
          </a:p>
        </p:txBody>
      </p:sp>
      <p:sp>
        <p:nvSpPr>
          <p:cNvPr id="603" name="Google Shape;603;p33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Never compute yourself, always call the tool</a:t>
            </a:r>
            <a:endParaRPr/>
          </a:p>
        </p:txBody>
      </p:sp>
      <p:sp>
        <p:nvSpPr>
          <p:cNvPr id="604" name="Google Shape;604;p33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 Query &amp; Summary (Module 2)</a:t>
            </a:r>
            <a:endParaRPr/>
          </a:p>
        </p:txBody>
      </p:sp>
      <p:sp>
        <p:nvSpPr>
          <p:cNvPr id="605" name="Google Shape;605;p33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606" name="Google Shape;606;p33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Prompt</a:t>
            </a:r>
            <a:endParaRPr/>
          </a:p>
        </p:txBody>
      </p:sp>
      <p:sp>
        <p:nvSpPr>
          <p:cNvPr id="607" name="Google Shape;607;p33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608" name="Google Shape;608;p33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Retrieval</a:t>
            </a:r>
            <a:endParaRPr/>
          </a:p>
        </p:txBody>
      </p:sp>
      <p:grpSp>
        <p:nvGrpSpPr>
          <p:cNvPr id="609" name="Google Shape;609;p33"/>
          <p:cNvGrpSpPr/>
          <p:nvPr/>
        </p:nvGrpSpPr>
        <p:grpSpPr>
          <a:xfrm>
            <a:off x="5085306" y="2100976"/>
            <a:ext cx="502899" cy="502899"/>
            <a:chOff x="858700" y="1967475"/>
            <a:chExt cx="605100" cy="605100"/>
          </a:xfrm>
        </p:grpSpPr>
        <p:sp>
          <p:nvSpPr>
            <p:cNvPr id="610" name="Google Shape;610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33"/>
          <p:cNvGrpSpPr/>
          <p:nvPr/>
        </p:nvGrpSpPr>
        <p:grpSpPr>
          <a:xfrm>
            <a:off x="5085356" y="3694821"/>
            <a:ext cx="502800" cy="502800"/>
            <a:chOff x="7014301" y="2017350"/>
            <a:chExt cx="502800" cy="502800"/>
          </a:xfrm>
        </p:grpSpPr>
        <p:sp>
          <p:nvSpPr>
            <p:cNvPr id="613" name="Google Shape;613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33"/>
          <p:cNvGrpSpPr/>
          <p:nvPr/>
        </p:nvGrpSpPr>
        <p:grpSpPr>
          <a:xfrm>
            <a:off x="1045556" y="3694821"/>
            <a:ext cx="502800" cy="502800"/>
            <a:chOff x="1627550" y="2017350"/>
            <a:chExt cx="502800" cy="502800"/>
          </a:xfrm>
        </p:grpSpPr>
        <p:sp>
          <p:nvSpPr>
            <p:cNvPr id="616" name="Google Shape;616;p3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33"/>
          <p:cNvGrpSpPr/>
          <p:nvPr/>
        </p:nvGrpSpPr>
        <p:grpSpPr>
          <a:xfrm>
            <a:off x="1046025" y="2101025"/>
            <a:ext cx="502800" cy="502800"/>
            <a:chOff x="463701" y="2307675"/>
            <a:chExt cx="502800" cy="502800"/>
          </a:xfrm>
        </p:grpSpPr>
        <p:sp>
          <p:nvSpPr>
            <p:cNvPr id="619" name="Google Shape;619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545925" y="2446300"/>
              <a:ext cx="338328" cy="225549"/>
            </a:xfrm>
            <a:custGeom>
              <a:rect b="b" l="l" r="r" t="t"/>
              <a:pathLst>
                <a:path extrusionOk="0" h="5806" w="8708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555887" y="2446307"/>
              <a:ext cx="318435" cy="106170"/>
            </a:xfrm>
            <a:custGeom>
              <a:rect b="b" l="l" r="r" t="t"/>
              <a:pathLst>
                <a:path extrusionOk="0" h="2733" w="8196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2" name="Google Shape;622;p33"/>
          <p:cNvSpPr/>
          <p:nvPr/>
        </p:nvSpPr>
        <p:spPr>
          <a:xfrm>
            <a:off x="776538" y="10903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544198" y="941661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8057229" y="1042351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000" y="1848528"/>
            <a:ext cx="457201" cy="45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775" y="226312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8150" y="22631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3"/>
          <p:cNvSpPr/>
          <p:nvPr/>
        </p:nvSpPr>
        <p:spPr>
          <a:xfrm>
            <a:off x="6691325" y="2416975"/>
            <a:ext cx="226200" cy="2382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/>
          <p:nvPr/>
        </p:nvSpPr>
        <p:spPr>
          <a:xfrm>
            <a:off x="1361000" y="1068850"/>
            <a:ext cx="6405000" cy="34272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4"/>
          <p:cNvSpPr txBox="1"/>
          <p:nvPr>
            <p:ph type="title"/>
          </p:nvPr>
        </p:nvSpPr>
        <p:spPr>
          <a:xfrm>
            <a:off x="2057400" y="222883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Evaluation. |</a:t>
            </a:r>
            <a:endParaRPr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1646925" y="1381650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7031613" y="405820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6799273" y="3909555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5"/>
          <p:cNvGrpSpPr/>
          <p:nvPr/>
        </p:nvGrpSpPr>
        <p:grpSpPr>
          <a:xfrm>
            <a:off x="408274" y="1178967"/>
            <a:ext cx="2813460" cy="3602718"/>
            <a:chOff x="4754850" y="1600321"/>
            <a:chExt cx="3771900" cy="1412554"/>
          </a:xfrm>
        </p:grpSpPr>
        <p:sp>
          <p:nvSpPr>
            <p:cNvPr id="643" name="Google Shape;643;p35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5"/>
            <p:cNvSpPr/>
            <p:nvPr/>
          </p:nvSpPr>
          <p:spPr>
            <a:xfrm>
              <a:off x="4754850" y="1600321"/>
              <a:ext cx="3674400" cy="1378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5" name="Google Shape;645;p35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46" name="Google Shape;646;p35"/>
          <p:cNvSpPr/>
          <p:nvPr/>
        </p:nvSpPr>
        <p:spPr>
          <a:xfrm>
            <a:off x="6269750" y="1217150"/>
            <a:ext cx="2463900" cy="3564600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7" name="Google Shape;647;p35"/>
          <p:cNvGrpSpPr/>
          <p:nvPr/>
        </p:nvGrpSpPr>
        <p:grpSpPr>
          <a:xfrm>
            <a:off x="3339012" y="1178967"/>
            <a:ext cx="2813460" cy="3602718"/>
            <a:chOff x="4754850" y="1600321"/>
            <a:chExt cx="3771900" cy="1412554"/>
          </a:xfrm>
        </p:grpSpPr>
        <p:sp>
          <p:nvSpPr>
            <p:cNvPr id="648" name="Google Shape;648;p35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4754850" y="1600321"/>
              <a:ext cx="3674400" cy="1378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0" name="Google Shape;650;p35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51" name="Google Shape;651;p35"/>
          <p:cNvSpPr/>
          <p:nvPr/>
        </p:nvSpPr>
        <p:spPr>
          <a:xfrm>
            <a:off x="408500" y="274650"/>
            <a:ext cx="7388400" cy="8064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5"/>
          <p:cNvSpPr txBox="1"/>
          <p:nvPr>
            <p:ph type="title"/>
          </p:nvPr>
        </p:nvSpPr>
        <p:spPr>
          <a:xfrm>
            <a:off x="474950" y="288025"/>
            <a:ext cx="5538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28 cases across 2 modules_.</a:t>
            </a:r>
            <a:endParaRPr sz="2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53" name="Google Shape;653;p35"/>
          <p:cNvSpPr txBox="1"/>
          <p:nvPr/>
        </p:nvSpPr>
        <p:spPr>
          <a:xfrm flipH="1">
            <a:off x="517375" y="2164225"/>
            <a:ext cx="25992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Grounding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Correctness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Safety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54" name="Google Shape;654;p35"/>
          <p:cNvSpPr txBox="1"/>
          <p:nvPr/>
        </p:nvSpPr>
        <p:spPr>
          <a:xfrm flipH="1">
            <a:off x="548425" y="3315723"/>
            <a:ext cx="25992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Variants</a:t>
            </a:r>
            <a:endParaRPr b="1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A: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Qwen-VL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upload image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Qwen-VL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+ Ledger.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C: OUTFLOW 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55" name="Google Shape;655;p35"/>
          <p:cNvSpPr txBox="1"/>
          <p:nvPr/>
        </p:nvSpPr>
        <p:spPr>
          <a:xfrm flipH="1">
            <a:off x="3444825" y="3283390"/>
            <a:ext cx="2463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Variants</a:t>
            </a:r>
            <a:endParaRPr b="1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A: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DeepSeek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Chat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B: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DeepSeek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+ Ledger. 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C: OUTFLOW 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56" name="Google Shape;656;p35"/>
          <p:cNvSpPr txBox="1"/>
          <p:nvPr/>
        </p:nvSpPr>
        <p:spPr>
          <a:xfrm flipH="1">
            <a:off x="6374900" y="1833108"/>
            <a:ext cx="23409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Human Check.</a:t>
            </a:r>
            <a:r>
              <a:rPr lang="en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1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ubik"/>
              <a:buChar char="-"/>
            </a:pPr>
            <a:r>
              <a:rPr lang="en" sz="12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Verifies OCR extraction directly against physical receipts.</a:t>
            </a:r>
            <a:endParaRPr sz="12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Rubik"/>
              <a:buChar char="-"/>
            </a:pPr>
            <a:r>
              <a:rPr lang="en" sz="12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Avoids model  self-grading bias.</a:t>
            </a:r>
            <a:endParaRPr sz="15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57" name="Google Shape;657;p35"/>
          <p:cNvSpPr txBox="1"/>
          <p:nvPr/>
        </p:nvSpPr>
        <p:spPr>
          <a:xfrm flipH="1">
            <a:off x="6343850" y="3460150"/>
            <a:ext cx="23898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Grading System.</a:t>
            </a:r>
            <a:endParaRPr b="1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Rubik"/>
              <a:buChar char="-"/>
            </a:pPr>
            <a:r>
              <a:rPr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PASS </a:t>
            </a:r>
            <a:r>
              <a:rPr i="1"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(1 pts)</a:t>
            </a:r>
            <a:endParaRPr i="1" sz="11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Rubik"/>
              <a:buChar char="-"/>
            </a:pPr>
            <a:r>
              <a:rPr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PARTIAL </a:t>
            </a:r>
            <a:r>
              <a:rPr i="1"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(0.5 pts) *</a:t>
            </a:r>
            <a:endParaRPr i="1" sz="11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Rubik"/>
              <a:buChar char="-"/>
            </a:pPr>
            <a:r>
              <a:rPr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FAIL </a:t>
            </a:r>
            <a:r>
              <a:rPr i="1" lang="en" sz="11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(0 pts)</a:t>
            </a:r>
            <a:endParaRPr i="1" sz="11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6287600" y="1178975"/>
            <a:ext cx="2463900" cy="451500"/>
          </a:xfrm>
          <a:prstGeom prst="roundRect">
            <a:avLst>
              <a:gd fmla="val 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5"/>
          <p:cNvSpPr txBox="1"/>
          <p:nvPr>
            <p:ph type="title"/>
          </p:nvPr>
        </p:nvSpPr>
        <p:spPr>
          <a:xfrm>
            <a:off x="6260041" y="1200868"/>
            <a:ext cx="24639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_Evaluation Rigor.</a:t>
            </a:r>
            <a:endParaRPr sz="1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60" name="Google Shape;660;p35"/>
          <p:cNvSpPr txBox="1"/>
          <p:nvPr/>
        </p:nvSpPr>
        <p:spPr>
          <a:xfrm flipH="1">
            <a:off x="474950" y="1188302"/>
            <a:ext cx="2200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Module 1:</a:t>
            </a:r>
            <a:r>
              <a:rPr b="1" lang="en" sz="19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VLM</a:t>
            </a:r>
            <a:r>
              <a:rPr b="1" lang="en" sz="19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sz="19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1" name="Google Shape;661;p35"/>
          <p:cNvSpPr txBox="1"/>
          <p:nvPr/>
        </p:nvSpPr>
        <p:spPr>
          <a:xfrm flipH="1">
            <a:off x="3446151" y="2164225"/>
            <a:ext cx="25992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Grounding 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Correctness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7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Safety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2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Readability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2" name="Google Shape;662;p35"/>
          <p:cNvSpPr txBox="1"/>
          <p:nvPr/>
        </p:nvSpPr>
        <p:spPr>
          <a:xfrm flipH="1">
            <a:off x="3357918" y="1179331"/>
            <a:ext cx="2200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Module 2: Query</a:t>
            </a:r>
            <a:r>
              <a:rPr b="1" lang="en" sz="19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sz="19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517400" y="1809925"/>
            <a:ext cx="1846500" cy="3543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11 Cases.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5"/>
          <p:cNvSpPr/>
          <p:nvPr/>
        </p:nvSpPr>
        <p:spPr>
          <a:xfrm>
            <a:off x="3446150" y="1791555"/>
            <a:ext cx="1846500" cy="3543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17 Cases.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5"/>
          <p:cNvSpPr/>
          <p:nvPr/>
        </p:nvSpPr>
        <p:spPr>
          <a:xfrm>
            <a:off x="517075" y="3289573"/>
            <a:ext cx="1846500" cy="549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5"/>
          <p:cNvSpPr/>
          <p:nvPr/>
        </p:nvSpPr>
        <p:spPr>
          <a:xfrm>
            <a:off x="3455075" y="3269464"/>
            <a:ext cx="1846500" cy="549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5"/>
          <p:cNvSpPr txBox="1"/>
          <p:nvPr/>
        </p:nvSpPr>
        <p:spPr>
          <a:xfrm flipH="1">
            <a:off x="475100" y="704725"/>
            <a:ext cx="72678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Grounding/Correctness/Safety/</a:t>
            </a:r>
            <a:r>
              <a:rPr lang="en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Readability + Architecture Variant A/B/C</a:t>
            </a:r>
            <a:r>
              <a:rPr lang="en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36"/>
          <p:cNvGrpSpPr/>
          <p:nvPr/>
        </p:nvGrpSpPr>
        <p:grpSpPr>
          <a:xfrm>
            <a:off x="4625215" y="1805177"/>
            <a:ext cx="4078178" cy="705286"/>
            <a:chOff x="4754850" y="1600325"/>
            <a:chExt cx="3771900" cy="1412550"/>
          </a:xfrm>
        </p:grpSpPr>
        <p:sp>
          <p:nvSpPr>
            <p:cNvPr id="673" name="Google Shape;673;p36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5" name="Google Shape;675;p36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6" name="Google Shape;676;p36"/>
          <p:cNvSpPr txBox="1"/>
          <p:nvPr>
            <p:ph type="title"/>
          </p:nvPr>
        </p:nvSpPr>
        <p:spPr>
          <a:xfrm>
            <a:off x="4625029" y="1957729"/>
            <a:ext cx="3960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latin typeface="Rubik"/>
                <a:ea typeface="Rubik"/>
                <a:cs typeface="Rubik"/>
                <a:sym typeface="Rubik"/>
              </a:rPr>
              <a:t>Grounding</a:t>
            </a:r>
            <a:endParaRPr sz="1500" u="sng"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77" name="Google Shape;677;p36"/>
          <p:cNvGrpSpPr/>
          <p:nvPr/>
        </p:nvGrpSpPr>
        <p:grpSpPr>
          <a:xfrm>
            <a:off x="4625215" y="2601849"/>
            <a:ext cx="4078178" cy="705286"/>
            <a:chOff x="4754850" y="1600325"/>
            <a:chExt cx="3771900" cy="1412550"/>
          </a:xfrm>
        </p:grpSpPr>
        <p:sp>
          <p:nvSpPr>
            <p:cNvPr id="678" name="Google Shape;678;p36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0" name="Google Shape;680;p36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1" name="Google Shape;681;p36"/>
          <p:cNvSpPr txBox="1"/>
          <p:nvPr>
            <p:ph type="title"/>
          </p:nvPr>
        </p:nvSpPr>
        <p:spPr>
          <a:xfrm>
            <a:off x="4625029" y="2765335"/>
            <a:ext cx="3960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latin typeface="Rubik"/>
                <a:ea typeface="Rubik"/>
                <a:cs typeface="Rubik"/>
                <a:sym typeface="Rubik"/>
              </a:rPr>
              <a:t>Correctness</a:t>
            </a:r>
            <a:endParaRPr sz="1500" u="sng"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82" name="Google Shape;682;p36"/>
          <p:cNvGrpSpPr/>
          <p:nvPr/>
        </p:nvGrpSpPr>
        <p:grpSpPr>
          <a:xfrm>
            <a:off x="4625215" y="3398540"/>
            <a:ext cx="4078178" cy="705286"/>
            <a:chOff x="4754850" y="1600325"/>
            <a:chExt cx="3771900" cy="1412550"/>
          </a:xfrm>
        </p:grpSpPr>
        <p:sp>
          <p:nvSpPr>
            <p:cNvPr id="683" name="Google Shape;683;p36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5" name="Google Shape;685;p36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6" name="Google Shape;686;p36"/>
          <p:cNvSpPr txBox="1"/>
          <p:nvPr>
            <p:ph type="title"/>
          </p:nvPr>
        </p:nvSpPr>
        <p:spPr>
          <a:xfrm>
            <a:off x="4653893" y="3548819"/>
            <a:ext cx="3960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latin typeface="Rubik"/>
                <a:ea typeface="Rubik"/>
                <a:cs typeface="Rubik"/>
                <a:sym typeface="Rubik"/>
              </a:rPr>
              <a:t>Safety</a:t>
            </a:r>
            <a:endParaRPr sz="1500" u="sng"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87" name="Google Shape;687;p36"/>
          <p:cNvGrpSpPr/>
          <p:nvPr/>
        </p:nvGrpSpPr>
        <p:grpSpPr>
          <a:xfrm>
            <a:off x="4625215" y="4152641"/>
            <a:ext cx="4078178" cy="705286"/>
            <a:chOff x="4754850" y="1600325"/>
            <a:chExt cx="3771900" cy="1412550"/>
          </a:xfrm>
        </p:grpSpPr>
        <p:sp>
          <p:nvSpPr>
            <p:cNvPr id="688" name="Google Shape;688;p36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0" name="Google Shape;690;p36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1" name="Google Shape;691;p36"/>
          <p:cNvSpPr txBox="1"/>
          <p:nvPr>
            <p:ph type="title"/>
          </p:nvPr>
        </p:nvSpPr>
        <p:spPr>
          <a:xfrm>
            <a:off x="4626105" y="4296199"/>
            <a:ext cx="3960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latin typeface="Rubik"/>
                <a:ea typeface="Rubik"/>
                <a:cs typeface="Rubik"/>
                <a:sym typeface="Rubik"/>
              </a:rPr>
              <a:t>Readability</a:t>
            </a:r>
            <a:endParaRPr sz="1500" u="sng"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92" name="Google Shape;692;p36"/>
          <p:cNvGrpSpPr/>
          <p:nvPr/>
        </p:nvGrpSpPr>
        <p:grpSpPr>
          <a:xfrm>
            <a:off x="478504" y="712074"/>
            <a:ext cx="4025749" cy="4145704"/>
            <a:chOff x="4754850" y="1600321"/>
            <a:chExt cx="3771900" cy="1412554"/>
          </a:xfrm>
        </p:grpSpPr>
        <p:sp>
          <p:nvSpPr>
            <p:cNvPr id="693" name="Google Shape;693;p36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4754850" y="1600321"/>
              <a:ext cx="3674400" cy="1378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695;p36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6" name="Google Shape;696;p36"/>
          <p:cNvSpPr txBox="1"/>
          <p:nvPr>
            <p:ph type="title"/>
          </p:nvPr>
        </p:nvSpPr>
        <p:spPr>
          <a:xfrm>
            <a:off x="493275" y="633865"/>
            <a:ext cx="3909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 SemiBold"/>
                <a:ea typeface="Rubik SemiBold"/>
                <a:cs typeface="Rubik SemiBold"/>
                <a:sym typeface="Rubik SemiBold"/>
              </a:rPr>
              <a:t>Architecture</a:t>
            </a:r>
            <a:r>
              <a:rPr lang="en" sz="1800">
                <a:latin typeface="Rubik SemiBold"/>
                <a:ea typeface="Rubik SemiBold"/>
                <a:cs typeface="Rubik SemiBold"/>
                <a:sym typeface="Rubik SemiBold"/>
              </a:rPr>
              <a:t> Benchmark.</a:t>
            </a:r>
            <a:endParaRPr sz="180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699600" y="1638125"/>
            <a:ext cx="3466800" cy="1210200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98" name="Google Shape;698;p36"/>
          <p:cNvSpPr txBox="1"/>
          <p:nvPr>
            <p:ph type="title"/>
          </p:nvPr>
        </p:nvSpPr>
        <p:spPr>
          <a:xfrm>
            <a:off x="4621860" y="831876"/>
            <a:ext cx="3662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latin typeface="Rubik"/>
                <a:ea typeface="Rubik"/>
                <a:cs typeface="Rubik"/>
                <a:sym typeface="Rubik"/>
              </a:rPr>
              <a:t>Groundig</a:t>
            </a:r>
            <a:endParaRPr sz="1500" u="sng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99" name="Google Shape;699;p36"/>
          <p:cNvSpPr/>
          <p:nvPr/>
        </p:nvSpPr>
        <p:spPr>
          <a:xfrm>
            <a:off x="4625235" y="712078"/>
            <a:ext cx="3960000" cy="1001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6"/>
          <p:cNvSpPr txBox="1"/>
          <p:nvPr>
            <p:ph type="title"/>
          </p:nvPr>
        </p:nvSpPr>
        <p:spPr>
          <a:xfrm>
            <a:off x="4625235" y="831903"/>
            <a:ext cx="13005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Overall System Score</a:t>
            </a:r>
            <a:endParaRPr sz="1500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01" name="Google Shape;701;p36"/>
          <p:cNvSpPr/>
          <p:nvPr/>
        </p:nvSpPr>
        <p:spPr>
          <a:xfrm>
            <a:off x="6138410" y="483778"/>
            <a:ext cx="786600" cy="355200"/>
          </a:xfrm>
          <a:prstGeom prst="roundRect">
            <a:avLst>
              <a:gd fmla="val 0" name="adj"/>
            </a:avLst>
          </a:prstGeom>
          <a:solidFill>
            <a:srgbClr val="E0666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2100">
                <a:latin typeface="Rubik"/>
                <a:ea typeface="Rubik"/>
                <a:cs typeface="Rubik"/>
                <a:sym typeface="Rubik"/>
              </a:rPr>
              <a:t>V1.</a:t>
            </a:r>
            <a:endParaRPr b="1" i="0" sz="21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02" name="Google Shape;702;p36"/>
          <p:cNvSpPr/>
          <p:nvPr/>
        </p:nvSpPr>
        <p:spPr>
          <a:xfrm>
            <a:off x="7497960" y="483778"/>
            <a:ext cx="786600" cy="355200"/>
          </a:xfrm>
          <a:prstGeom prst="roundRect">
            <a:avLst>
              <a:gd fmla="val 0" name="adj"/>
            </a:avLst>
          </a:prstGeom>
          <a:solidFill>
            <a:srgbClr val="00FF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2100">
                <a:latin typeface="Rubik"/>
                <a:ea typeface="Rubik"/>
                <a:cs typeface="Rubik"/>
                <a:sym typeface="Rubik"/>
              </a:rPr>
              <a:t>V2.</a:t>
            </a:r>
            <a:endParaRPr b="1" i="0" sz="21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03" name="Google Shape;703;p36"/>
          <p:cNvSpPr txBox="1"/>
          <p:nvPr/>
        </p:nvSpPr>
        <p:spPr>
          <a:xfrm flipH="1">
            <a:off x="6131233" y="819867"/>
            <a:ext cx="94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16/28 (57%)</a:t>
            </a:r>
            <a:endParaRPr b="1" sz="18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4" name="Google Shape;704;p36"/>
          <p:cNvSpPr txBox="1"/>
          <p:nvPr/>
        </p:nvSpPr>
        <p:spPr>
          <a:xfrm flipH="1">
            <a:off x="7480511" y="804748"/>
            <a:ext cx="1062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24</a:t>
            </a:r>
            <a:r>
              <a:rPr b="1" lang="en" sz="18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/28 (86%) </a:t>
            </a:r>
            <a:r>
              <a:rPr b="1" lang="en" sz="1000">
                <a:solidFill>
                  <a:srgbClr val="00FF00"/>
                </a:solidFill>
                <a:latin typeface="Karla"/>
                <a:ea typeface="Karla"/>
                <a:cs typeface="Karla"/>
                <a:sym typeface="Karla"/>
              </a:rPr>
              <a:t>+29%</a:t>
            </a:r>
            <a:endParaRPr b="1" sz="1000">
              <a:solidFill>
                <a:srgbClr val="00FF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5" name="Google Shape;705;p36"/>
          <p:cNvSpPr txBox="1"/>
          <p:nvPr/>
        </p:nvSpPr>
        <p:spPr>
          <a:xfrm flipH="1">
            <a:off x="6138410" y="1980215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6/10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6" name="Google Shape;706;p36"/>
          <p:cNvSpPr txBox="1"/>
          <p:nvPr/>
        </p:nvSpPr>
        <p:spPr>
          <a:xfrm flipH="1">
            <a:off x="7454665" y="1982553"/>
            <a:ext cx="9459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8.5</a:t>
            </a: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/10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7" name="Google Shape;707;p36"/>
          <p:cNvSpPr txBox="1"/>
          <p:nvPr/>
        </p:nvSpPr>
        <p:spPr>
          <a:xfrm flipH="1">
            <a:off x="6139776" y="2776878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3</a:t>
            </a: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/6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8" name="Google Shape;708;p36"/>
          <p:cNvSpPr txBox="1"/>
          <p:nvPr/>
        </p:nvSpPr>
        <p:spPr>
          <a:xfrm flipH="1">
            <a:off x="6125344" y="3552290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6</a:t>
            </a: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/10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9" name="Google Shape;709;p36"/>
          <p:cNvSpPr txBox="1"/>
          <p:nvPr/>
        </p:nvSpPr>
        <p:spPr>
          <a:xfrm flipH="1">
            <a:off x="6140637" y="4327715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1/2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0" name="Google Shape;710;p36"/>
          <p:cNvSpPr txBox="1"/>
          <p:nvPr/>
        </p:nvSpPr>
        <p:spPr>
          <a:xfrm flipH="1">
            <a:off x="7488474" y="2776901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/6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1" name="Google Shape;711;p36"/>
          <p:cNvSpPr txBox="1"/>
          <p:nvPr/>
        </p:nvSpPr>
        <p:spPr>
          <a:xfrm flipH="1">
            <a:off x="7424410" y="3549866"/>
            <a:ext cx="9459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8.5</a:t>
            </a: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/10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2" name="Google Shape;712;p36"/>
          <p:cNvSpPr txBox="1"/>
          <p:nvPr/>
        </p:nvSpPr>
        <p:spPr>
          <a:xfrm flipH="1">
            <a:off x="7490205" y="4308406"/>
            <a:ext cx="7866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2/2</a:t>
            </a:r>
            <a:endParaRPr b="1" sz="17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3" name="Google Shape;713;p36"/>
          <p:cNvSpPr/>
          <p:nvPr/>
        </p:nvSpPr>
        <p:spPr>
          <a:xfrm>
            <a:off x="7077135" y="1069378"/>
            <a:ext cx="317400" cy="28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4" name="Google Shape;714;p36"/>
          <p:cNvSpPr txBox="1"/>
          <p:nvPr/>
        </p:nvSpPr>
        <p:spPr>
          <a:xfrm flipH="1">
            <a:off x="775225" y="2056680"/>
            <a:ext cx="3313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Prone to </a:t>
            </a:r>
            <a:r>
              <a:rPr lang="en" sz="1600" u="sng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arithmetic hallucination</a:t>
            </a:r>
            <a:endParaRPr sz="16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15" name="Google Shape;715;p36"/>
          <p:cNvSpPr/>
          <p:nvPr/>
        </p:nvSpPr>
        <p:spPr>
          <a:xfrm>
            <a:off x="714375" y="3398550"/>
            <a:ext cx="3466800" cy="1210200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6"/>
          <p:cNvSpPr txBox="1"/>
          <p:nvPr/>
        </p:nvSpPr>
        <p:spPr>
          <a:xfrm flipH="1">
            <a:off x="759300" y="3805953"/>
            <a:ext cx="33474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Calls </a:t>
            </a:r>
            <a:r>
              <a:rPr lang="en" sz="1600" u="sng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external calculator tool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for 100% arithmetic precision</a:t>
            </a:r>
            <a:endParaRPr sz="15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686184" y="3379500"/>
            <a:ext cx="3523200" cy="451500"/>
          </a:xfrm>
          <a:prstGeom prst="roundRect">
            <a:avLst>
              <a:gd fmla="val 0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6"/>
          <p:cNvSpPr txBox="1"/>
          <p:nvPr>
            <p:ph type="title"/>
          </p:nvPr>
        </p:nvSpPr>
        <p:spPr>
          <a:xfrm>
            <a:off x="686187" y="3398550"/>
            <a:ext cx="3523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C: OUTFLOW </a:t>
            </a:r>
            <a:endParaRPr sz="1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19" name="Google Shape;719;p36"/>
          <p:cNvSpPr txBox="1"/>
          <p:nvPr>
            <p:ph type="title"/>
          </p:nvPr>
        </p:nvSpPr>
        <p:spPr>
          <a:xfrm>
            <a:off x="671412" y="1612100"/>
            <a:ext cx="3523200" cy="41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B: Model Call + Ledger</a:t>
            </a:r>
            <a:endParaRPr sz="18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20" name="Google Shape;720;p36"/>
          <p:cNvSpPr txBox="1"/>
          <p:nvPr>
            <p:ph type="title"/>
          </p:nvPr>
        </p:nvSpPr>
        <p:spPr>
          <a:xfrm>
            <a:off x="478502" y="969552"/>
            <a:ext cx="2818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14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*Module 2 - Querying  </a:t>
            </a:r>
            <a:endParaRPr b="1" sz="14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21" name="Google Shape;721;p36"/>
          <p:cNvSpPr txBox="1"/>
          <p:nvPr>
            <p:ph type="title"/>
          </p:nvPr>
        </p:nvSpPr>
        <p:spPr>
          <a:xfrm>
            <a:off x="963962" y="2968252"/>
            <a:ext cx="2818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1400">
                <a:latin typeface="Rubik"/>
                <a:ea typeface="Rubik"/>
                <a:cs typeface="Rubik"/>
                <a:sym typeface="Rubik"/>
              </a:rPr>
              <a:t>VS</a:t>
            </a:r>
            <a:endParaRPr b="1" sz="14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Google Shape;726;p37"/>
          <p:cNvGrpSpPr/>
          <p:nvPr/>
        </p:nvGrpSpPr>
        <p:grpSpPr>
          <a:xfrm>
            <a:off x="2598043" y="416446"/>
            <a:ext cx="4078178" cy="705286"/>
            <a:chOff x="4754850" y="1600325"/>
            <a:chExt cx="3771900" cy="1412550"/>
          </a:xfrm>
        </p:grpSpPr>
        <p:sp>
          <p:nvSpPr>
            <p:cNvPr id="727" name="Google Shape;727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rgbClr val="FF00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37"/>
          <p:cNvSpPr txBox="1"/>
          <p:nvPr>
            <p:ph type="title"/>
          </p:nvPr>
        </p:nvSpPr>
        <p:spPr>
          <a:xfrm>
            <a:off x="2598050" y="520557"/>
            <a:ext cx="3909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 SemiBold"/>
                <a:ea typeface="Rubik SemiBold"/>
                <a:cs typeface="Rubik SemiBold"/>
                <a:sym typeface="Rubik SemiBold"/>
              </a:rPr>
              <a:t>Failure Case 1 - Grounding</a:t>
            </a:r>
            <a:endParaRPr sz="1800">
              <a:latin typeface="Rubik SemiBold"/>
              <a:ea typeface="Rubik SemiBold"/>
              <a:cs typeface="Rubik SemiBold"/>
              <a:sym typeface="Rubik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"/>
                <a:ea typeface="Rubik"/>
                <a:cs typeface="Rubik"/>
                <a:sym typeface="Rubik"/>
              </a:rPr>
              <a:t>Damaged Receipt</a:t>
            </a:r>
            <a:endParaRPr sz="18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2629063" y="1130657"/>
            <a:ext cx="4016100" cy="3596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1" name="Google Shape;731;p37"/>
          <p:cNvPicPr preferRelativeResize="0"/>
          <p:nvPr/>
        </p:nvPicPr>
        <p:blipFill rotWithShape="1">
          <a:blip r:embed="rId3">
            <a:alphaModFix/>
          </a:blip>
          <a:srcRect b="-4264" l="0" r="3781" t="0"/>
          <a:stretch/>
        </p:blipFill>
        <p:spPr>
          <a:xfrm>
            <a:off x="2764663" y="1288587"/>
            <a:ext cx="1803600" cy="34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37"/>
          <p:cNvSpPr txBox="1"/>
          <p:nvPr/>
        </p:nvSpPr>
        <p:spPr>
          <a:xfrm flipH="1">
            <a:off x="4748763" y="1403537"/>
            <a:ext cx="18036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Expected</a:t>
            </a:r>
            <a:endParaRPr b="1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Report as unable to extract, no make up numbers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33" name="Google Shape;733;p37"/>
          <p:cNvSpPr txBox="1"/>
          <p:nvPr/>
        </p:nvSpPr>
        <p:spPr>
          <a:xfrm flipH="1">
            <a:off x="4748763" y="2858762"/>
            <a:ext cx="18036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Actual Result </a:t>
            </a:r>
            <a:endParaRPr b="1" u="sng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Hallucinate, Report Sub-total as 39.25 instead </a:t>
            </a:r>
            <a:endParaRPr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*Its actually 38.25</a:t>
            </a:r>
            <a:endParaRPr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2883388" y="3684887"/>
            <a:ext cx="1615500" cy="291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8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System architecture — v2</a:t>
            </a:r>
            <a:endParaRPr/>
          </a:p>
        </p:txBody>
      </p:sp>
      <p:sp>
        <p:nvSpPr>
          <p:cNvPr id="740" name="Google Shape;740;p38"/>
          <p:cNvSpPr txBox="1"/>
          <p:nvPr>
            <p:ph idx="1" type="subTitle"/>
          </p:nvPr>
        </p:nvSpPr>
        <p:spPr>
          <a:xfrm>
            <a:off x="535725" y="2445350"/>
            <a:ext cx="367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Adding a human in the loop layer and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flags unusual receipts and mixed categories.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Adding clarifying </a:t>
            </a:r>
            <a:r>
              <a:rPr lang="en"/>
              <a:t>questions in RAG</a:t>
            </a:r>
            <a:r>
              <a:rPr lang="en"/>
              <a:t> and category addition within master tab and monthly summary word file download</a:t>
            </a:r>
            <a:endParaRPr/>
          </a:p>
        </p:txBody>
      </p:sp>
      <p:pic>
        <p:nvPicPr>
          <p:cNvPr id="741" name="Google Shape;741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950" y="629950"/>
            <a:ext cx="4746675" cy="42389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2" name="Google Shape;742;p38"/>
          <p:cNvSpPr/>
          <p:nvPr/>
        </p:nvSpPr>
        <p:spPr>
          <a:xfrm>
            <a:off x="1500283" y="4411799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8"/>
          <p:cNvSpPr/>
          <p:nvPr/>
        </p:nvSpPr>
        <p:spPr>
          <a:xfrm>
            <a:off x="1964428" y="4260971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8"/>
          <p:cNvSpPr/>
          <p:nvPr/>
        </p:nvSpPr>
        <p:spPr>
          <a:xfrm>
            <a:off x="714314" y="4107656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9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v1 to v2 changes</a:t>
            </a:r>
            <a:endParaRPr/>
          </a:p>
        </p:txBody>
      </p:sp>
      <p:sp>
        <p:nvSpPr>
          <p:cNvPr id="750" name="Google Shape;750;p39"/>
          <p:cNvSpPr/>
          <p:nvPr/>
        </p:nvSpPr>
        <p:spPr>
          <a:xfrm>
            <a:off x="1035175" y="2784106"/>
            <a:ext cx="16458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1" name="Google Shape;751;p39"/>
          <p:cNvSpPr/>
          <p:nvPr/>
        </p:nvSpPr>
        <p:spPr>
          <a:xfrm>
            <a:off x="2844450" y="2784106"/>
            <a:ext cx="16458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2" name="Google Shape;752;p39"/>
          <p:cNvSpPr/>
          <p:nvPr/>
        </p:nvSpPr>
        <p:spPr>
          <a:xfrm>
            <a:off x="4653725" y="2784106"/>
            <a:ext cx="16458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3" name="Google Shape;753;p39"/>
          <p:cNvSpPr/>
          <p:nvPr/>
        </p:nvSpPr>
        <p:spPr>
          <a:xfrm>
            <a:off x="6463000" y="2784106"/>
            <a:ext cx="1645800" cy="457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4" name="Google Shape;754;p39"/>
          <p:cNvSpPr txBox="1"/>
          <p:nvPr/>
        </p:nvSpPr>
        <p:spPr>
          <a:xfrm flipH="1">
            <a:off x="715075" y="1600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Fixed date</a:t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5" name="Google Shape;755;p39"/>
          <p:cNvSpPr txBox="1"/>
          <p:nvPr/>
        </p:nvSpPr>
        <p:spPr>
          <a:xfrm flipH="1">
            <a:off x="715075" y="2023049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Reproducible evals, no drift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56" name="Google Shape;756;p39"/>
          <p:cNvSpPr txBox="1"/>
          <p:nvPr/>
        </p:nvSpPr>
        <p:spPr>
          <a:xfrm flipH="1">
            <a:off x="2524563" y="3769225"/>
            <a:ext cx="2506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Assume &amp; state</a:t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7" name="Google Shape;757;p39"/>
          <p:cNvSpPr txBox="1"/>
          <p:nvPr/>
        </p:nvSpPr>
        <p:spPr>
          <a:xfrm flipH="1">
            <a:off x="2524350" y="3988755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</a:t>
            </a: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larifying-question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before answering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58" name="Google Shape;758;p39"/>
          <p:cNvSpPr txBox="1"/>
          <p:nvPr/>
        </p:nvSpPr>
        <p:spPr>
          <a:xfrm flipH="1">
            <a:off x="4333625" y="160031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Triage step</a:t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59" name="Google Shape;759;p39"/>
          <p:cNvSpPr txBox="1"/>
          <p:nvPr/>
        </p:nvSpPr>
        <p:spPr>
          <a:xfrm flipH="1">
            <a:off x="4333625" y="2023038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Isolates flagging from extraction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60" name="Google Shape;760;p39"/>
          <p:cNvSpPr txBox="1"/>
          <p:nvPr/>
        </p:nvSpPr>
        <p:spPr>
          <a:xfrm flipH="1">
            <a:off x="6142900" y="3827022"/>
            <a:ext cx="2286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R</a:t>
            </a:r>
            <a:r>
              <a:rPr b="0" i="0" lang="en" sz="2400" u="none" cap="none" strike="noStrik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eceipts </a:t>
            </a:r>
            <a:r>
              <a:rPr lang="en"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category</a:t>
            </a:r>
            <a:endParaRPr b="0" i="0" sz="2400" u="none" cap="none" strike="noStrike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761" name="Google Shape;761;p39"/>
          <p:cNvSpPr txBox="1"/>
          <p:nvPr/>
        </p:nvSpPr>
        <p:spPr>
          <a:xfrm flipH="1">
            <a:off x="6142900" y="4072555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One receipt, multiple categories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762" name="Google Shape;762;p39"/>
          <p:cNvCxnSpPr>
            <a:stCxn id="755" idx="2"/>
            <a:endCxn id="750" idx="0"/>
          </p:cNvCxnSpPr>
          <p:nvPr/>
        </p:nvCxnSpPr>
        <p:spPr>
          <a:xfrm>
            <a:off x="1858075" y="2617349"/>
            <a:ext cx="0" cy="16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3" name="Google Shape;763;p39"/>
          <p:cNvCxnSpPr/>
          <p:nvPr/>
        </p:nvCxnSpPr>
        <p:spPr>
          <a:xfrm>
            <a:off x="3667350" y="3231434"/>
            <a:ext cx="5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4" name="Google Shape;764;p39"/>
          <p:cNvCxnSpPr>
            <a:stCxn id="752" idx="0"/>
            <a:endCxn id="759" idx="2"/>
          </p:cNvCxnSpPr>
          <p:nvPr/>
        </p:nvCxnSpPr>
        <p:spPr>
          <a:xfrm rot="10800000">
            <a:off x="5476625" y="2617306"/>
            <a:ext cx="0" cy="16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5" name="Google Shape;765;p39"/>
          <p:cNvCxnSpPr>
            <a:stCxn id="753" idx="2"/>
          </p:cNvCxnSpPr>
          <p:nvPr/>
        </p:nvCxnSpPr>
        <p:spPr>
          <a:xfrm flipH="1">
            <a:off x="7282300" y="3241306"/>
            <a:ext cx="3600" cy="21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6" name="Google Shape;766;p39"/>
          <p:cNvCxnSpPr>
            <a:stCxn id="750" idx="3"/>
            <a:endCxn id="751" idx="1"/>
          </p:cNvCxnSpPr>
          <p:nvPr/>
        </p:nvCxnSpPr>
        <p:spPr>
          <a:xfrm>
            <a:off x="2680975" y="3012706"/>
            <a:ext cx="163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7" name="Google Shape;767;p39"/>
          <p:cNvCxnSpPr>
            <a:stCxn id="751" idx="3"/>
            <a:endCxn id="752" idx="1"/>
          </p:cNvCxnSpPr>
          <p:nvPr/>
        </p:nvCxnSpPr>
        <p:spPr>
          <a:xfrm>
            <a:off x="4490250" y="3012706"/>
            <a:ext cx="163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9"/>
          <p:cNvCxnSpPr>
            <a:stCxn id="752" idx="3"/>
            <a:endCxn id="753" idx="1"/>
          </p:cNvCxnSpPr>
          <p:nvPr/>
        </p:nvCxnSpPr>
        <p:spPr>
          <a:xfrm>
            <a:off x="6299525" y="3012706"/>
            <a:ext cx="163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39"/>
          <p:cNvCxnSpPr>
            <a:stCxn id="753" idx="3"/>
          </p:cNvCxnSpPr>
          <p:nvPr/>
        </p:nvCxnSpPr>
        <p:spPr>
          <a:xfrm>
            <a:off x="8108800" y="3012706"/>
            <a:ext cx="321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770" name="Google Shape;770;p39"/>
          <p:cNvCxnSpPr>
            <a:stCxn id="750" idx="1"/>
          </p:cNvCxnSpPr>
          <p:nvPr/>
        </p:nvCxnSpPr>
        <p:spPr>
          <a:xfrm rot="10800000">
            <a:off x="716275" y="3012706"/>
            <a:ext cx="318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771" name="Google Shape;771;p39"/>
          <p:cNvGrpSpPr/>
          <p:nvPr/>
        </p:nvGrpSpPr>
        <p:grpSpPr>
          <a:xfrm>
            <a:off x="716262" y="4020798"/>
            <a:ext cx="682628" cy="313229"/>
            <a:chOff x="7746275" y="1413898"/>
            <a:chExt cx="682628" cy="313229"/>
          </a:xfrm>
        </p:grpSpPr>
        <p:sp>
          <p:nvSpPr>
            <p:cNvPr id="772" name="Google Shape;772;p39"/>
            <p:cNvSpPr/>
            <p:nvPr/>
          </p:nvSpPr>
          <p:spPr>
            <a:xfrm>
              <a:off x="7746275" y="1562537"/>
              <a:ext cx="457208" cy="164590"/>
            </a:xfrm>
            <a:custGeom>
              <a:rect b="b" l="l" r="r" t="t"/>
              <a:pathLst>
                <a:path extrusionOk="0" h="3025" w="7903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7971707" y="1413898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4" name="Google Shape;774;p39"/>
          <p:cNvSpPr/>
          <p:nvPr/>
        </p:nvSpPr>
        <p:spPr>
          <a:xfrm rot="-2700000">
            <a:off x="7919053" y="3051729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715075" y="10446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p39"/>
          <p:cNvGrpSpPr/>
          <p:nvPr/>
        </p:nvGrpSpPr>
        <p:grpSpPr>
          <a:xfrm>
            <a:off x="7266943" y="1417337"/>
            <a:ext cx="1827475" cy="1051350"/>
            <a:chOff x="136938" y="3645137"/>
            <a:chExt cx="1827475" cy="1051350"/>
          </a:xfrm>
        </p:grpSpPr>
        <p:grpSp>
          <p:nvGrpSpPr>
            <p:cNvPr id="777" name="Google Shape;777;p39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778" name="Google Shape;778;p39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9" name="Google Shape;779;p39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780" name="Google Shape;780;p39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1" name="Google Shape;781;p39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782" name="Google Shape;782;p39"/>
            <p:cNvGrpSpPr/>
            <p:nvPr/>
          </p:nvGrpSpPr>
          <p:grpSpPr>
            <a:xfrm>
              <a:off x="312866" y="4003096"/>
              <a:ext cx="1339306" cy="443404"/>
              <a:chOff x="312866" y="4003096"/>
              <a:chExt cx="1339306" cy="443404"/>
            </a:xfrm>
          </p:grpSpPr>
          <p:sp>
            <p:nvSpPr>
              <p:cNvPr id="783" name="Google Shape;783;p39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rect b="b" l="l" r="r" t="t"/>
                <a:pathLst>
                  <a:path extrusionOk="0" h="1513" w="17343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39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rect b="b" l="l" r="r" t="t"/>
                <a:pathLst>
                  <a:path extrusionOk="0" h="6178" w="17534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39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rect b="b" l="l" r="r" t="t"/>
                <a:pathLst>
                  <a:path extrusionOk="0" h="4222" w="4757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39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rect b="b" l="l" r="r" t="t"/>
                <a:pathLst>
                  <a:path extrusionOk="0" h="6540" w="10367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39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rect b="b" l="l" r="r" t="t"/>
                <a:pathLst>
                  <a:path extrusionOk="0" h="6538" w="5001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88" name="Google Shape;788;p39"/>
          <p:cNvSpPr txBox="1"/>
          <p:nvPr/>
        </p:nvSpPr>
        <p:spPr>
          <a:xfrm>
            <a:off x="720000" y="4500000"/>
            <a:ext cx="7708925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Limitation: synthetic receipts skip real-world OCR difficulty.</a:t>
            </a:r>
            <a:endParaRPr/>
          </a:p>
        </p:txBody>
      </p:sp>
      <p:pic>
        <p:nvPicPr>
          <p:cNvPr id="789" name="Google Shape;7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211" y="2805032"/>
            <a:ext cx="405975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859" y="2795161"/>
            <a:ext cx="405975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6165" y="2809713"/>
            <a:ext cx="405975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7325" y="2791300"/>
            <a:ext cx="457199" cy="3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0"/>
          <p:cNvSpPr txBox="1"/>
          <p:nvPr>
            <p:ph type="title"/>
          </p:nvPr>
        </p:nvSpPr>
        <p:spPr>
          <a:xfrm>
            <a:off x="715050" y="5350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UI/UX walkthrough</a:t>
            </a:r>
            <a:endParaRPr/>
          </a:p>
        </p:txBody>
      </p:sp>
      <p:sp>
        <p:nvSpPr>
          <p:cNvPr id="798" name="Google Shape;798;p40"/>
          <p:cNvSpPr/>
          <p:nvPr/>
        </p:nvSpPr>
        <p:spPr>
          <a:xfrm>
            <a:off x="947500" y="10903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0"/>
          <p:cNvSpPr/>
          <p:nvPr/>
        </p:nvSpPr>
        <p:spPr>
          <a:xfrm>
            <a:off x="715160" y="941661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0"/>
          <p:cNvSpPr/>
          <p:nvPr/>
        </p:nvSpPr>
        <p:spPr>
          <a:xfrm>
            <a:off x="7971748" y="1042351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0"/>
          <p:cNvSpPr txBox="1"/>
          <p:nvPr/>
        </p:nvSpPr>
        <p:spPr>
          <a:xfrm>
            <a:off x="1437763" y="320500"/>
            <a:ext cx="6344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Built with Claude Design</a:t>
            </a:r>
            <a:endParaRPr sz="1900"/>
          </a:p>
        </p:txBody>
      </p:sp>
      <p:pic>
        <p:nvPicPr>
          <p:cNvPr id="802" name="Google Shape;802;p40"/>
          <p:cNvPicPr preferRelativeResize="0"/>
          <p:nvPr/>
        </p:nvPicPr>
        <p:blipFill rotWithShape="1">
          <a:blip r:embed="rId3">
            <a:alphaModFix/>
          </a:blip>
          <a:srcRect b="13555" l="0" r="0" t="0"/>
          <a:stretch/>
        </p:blipFill>
        <p:spPr>
          <a:xfrm>
            <a:off x="1317750" y="1090325"/>
            <a:ext cx="6584025" cy="31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0"/>
          <p:cNvSpPr txBox="1"/>
          <p:nvPr/>
        </p:nvSpPr>
        <p:spPr>
          <a:xfrm>
            <a:off x="1317750" y="4132500"/>
            <a:ext cx="14121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B6259"/>
                </a:solidFill>
                <a:latin typeface="Karla"/>
                <a:ea typeface="Karla"/>
                <a:cs typeface="Karla"/>
                <a:sym typeface="Karla"/>
              </a:rPr>
              <a:t>Upload a receipt photo, or just type the expense.</a:t>
            </a:r>
            <a:endParaRPr sz="11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04" name="Google Shape;804;p40"/>
          <p:cNvSpPr txBox="1"/>
          <p:nvPr/>
        </p:nvSpPr>
        <p:spPr>
          <a:xfrm>
            <a:off x="3101525" y="4132500"/>
            <a:ext cx="14121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B6259"/>
                </a:solidFill>
                <a:latin typeface="Karla"/>
                <a:ea typeface="Karla"/>
                <a:cs typeface="Karla"/>
                <a:sym typeface="Karla"/>
              </a:rPr>
              <a:t>The AI drafts the row. You edit any field, then save.</a:t>
            </a:r>
            <a:endParaRPr sz="11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05" name="Google Shape;805;p40"/>
          <p:cNvSpPr txBox="1"/>
          <p:nvPr/>
        </p:nvSpPr>
        <p:spPr>
          <a:xfrm>
            <a:off x="4816775" y="4122375"/>
            <a:ext cx="14121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6B6259"/>
                </a:solidFill>
                <a:latin typeface="Karla"/>
                <a:ea typeface="Karla"/>
                <a:cs typeface="Karla"/>
                <a:sym typeface="Karla"/>
              </a:rPr>
              <a:t>A lookup table sorts it. No match goes to Uncategorised.</a:t>
            </a:r>
            <a:endParaRPr sz="10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06" name="Google Shape;806;p40"/>
          <p:cNvSpPr txBox="1"/>
          <p:nvPr/>
        </p:nvSpPr>
        <p:spPr>
          <a:xfrm>
            <a:off x="6532025" y="4103475"/>
            <a:ext cx="16980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B6259"/>
                </a:solidFill>
                <a:latin typeface="Karla"/>
                <a:ea typeface="Karla"/>
                <a:cs typeface="Karla"/>
                <a:sym typeface="Karla"/>
              </a:rPr>
              <a:t>Ask in plain English. Answers come back in text and a chart.</a:t>
            </a:r>
            <a:endParaRPr sz="11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B6259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"/>
          <p:cNvSpPr txBox="1"/>
          <p:nvPr>
            <p:ph type="title"/>
          </p:nvPr>
        </p:nvSpPr>
        <p:spPr>
          <a:xfrm>
            <a:off x="715050" y="535000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Demo Video</a:t>
            </a:r>
            <a:endParaRPr/>
          </a:p>
        </p:txBody>
      </p:sp>
      <p:sp>
        <p:nvSpPr>
          <p:cNvPr id="812" name="Google Shape;812;p41"/>
          <p:cNvSpPr/>
          <p:nvPr/>
        </p:nvSpPr>
        <p:spPr>
          <a:xfrm>
            <a:off x="947500" y="1090313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1"/>
          <p:cNvSpPr/>
          <p:nvPr/>
        </p:nvSpPr>
        <p:spPr>
          <a:xfrm>
            <a:off x="715160" y="941661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1"/>
          <p:cNvSpPr/>
          <p:nvPr/>
        </p:nvSpPr>
        <p:spPr>
          <a:xfrm>
            <a:off x="7971748" y="1042351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1437763" y="320500"/>
            <a:ext cx="6344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6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Built with Claude Design</a:t>
            </a:r>
            <a:endParaRPr sz="1900"/>
          </a:p>
        </p:txBody>
      </p:sp>
      <p:pic>
        <p:nvPicPr>
          <p:cNvPr id="816" name="Google Shape;816;p41" title="PE6203_Demo Vide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2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Does anyone have any questions?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p42"/>
          <p:cNvSpPr txBox="1"/>
          <p:nvPr>
            <p:ph type="ctrTitle"/>
          </p:nvPr>
        </p:nvSpPr>
        <p:spPr>
          <a:xfrm>
            <a:off x="2335568" y="984428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23" name="Google Shape;823;p42"/>
          <p:cNvSpPr txBox="1"/>
          <p:nvPr/>
        </p:nvSpPr>
        <p:spPr>
          <a:xfrm>
            <a:off x="2285991" y="408411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Please keep this slide for attribution</a:t>
            </a:r>
            <a:endParaRPr b="0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824" name="Google Shape;824;p42"/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825" name="Google Shape;825;p42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826" name="Google Shape;826;p42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7" name="Google Shape;827;p42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828" name="Google Shape;828;p42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29" name="Google Shape;829;p42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30" name="Google Shape;830;p42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831" name="Google Shape;831;p42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rect b="b" l="l" r="r" t="t"/>
                <a:pathLst>
                  <a:path extrusionOk="0" h="1348" w="19319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2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rect b="b" l="l" r="r" t="t"/>
                <a:pathLst>
                  <a:path extrusionOk="0" h="1371" w="19326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2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rect b="b" l="l" r="r" t="t"/>
                <a:pathLst>
                  <a:path extrusionOk="0" h="1372" w="19319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42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rect b="b" l="l" r="r" t="t"/>
                <a:pathLst>
                  <a:path extrusionOk="0" h="12659" w="10294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5" name="Google Shape;835;p42"/>
          <p:cNvGrpSpPr/>
          <p:nvPr/>
        </p:nvGrpSpPr>
        <p:grpSpPr>
          <a:xfrm>
            <a:off x="3630188" y="2922924"/>
            <a:ext cx="1883700" cy="502800"/>
            <a:chOff x="5406488" y="2852975"/>
            <a:chExt cx="1883700" cy="502800"/>
          </a:xfrm>
        </p:grpSpPr>
        <p:grpSp>
          <p:nvGrpSpPr>
            <p:cNvPr id="836" name="Google Shape;836;p42"/>
            <p:cNvGrpSpPr/>
            <p:nvPr/>
          </p:nvGrpSpPr>
          <p:grpSpPr>
            <a:xfrm>
              <a:off x="5406488" y="2852975"/>
              <a:ext cx="502800" cy="502800"/>
              <a:chOff x="7034100" y="3230600"/>
              <a:chExt cx="502800" cy="502800"/>
            </a:xfrm>
          </p:grpSpPr>
          <p:sp>
            <p:nvSpPr>
              <p:cNvPr id="837" name="Google Shape;837;p42"/>
              <p:cNvSpPr/>
              <p:nvPr/>
            </p:nvSpPr>
            <p:spPr>
              <a:xfrm>
                <a:off x="7034100" y="3230600"/>
                <a:ext cx="502800" cy="502800"/>
              </a:xfrm>
              <a:prstGeom prst="roundRect">
                <a:avLst>
                  <a:gd fmla="val 15109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8" name="Google Shape;838;p42"/>
              <p:cNvGrpSpPr/>
              <p:nvPr/>
            </p:nvGrpSpPr>
            <p:grpSpPr>
              <a:xfrm>
                <a:off x="7125480" y="3321980"/>
                <a:ext cx="320041" cy="320041"/>
                <a:chOff x="6166397" y="2888965"/>
                <a:chExt cx="215298" cy="215298"/>
              </a:xfrm>
            </p:grpSpPr>
            <p:sp>
              <p:nvSpPr>
                <p:cNvPr id="839" name="Google Shape;839;p42"/>
                <p:cNvSpPr/>
                <p:nvPr/>
              </p:nvSpPr>
              <p:spPr>
                <a:xfrm>
                  <a:off x="6166397" y="2888965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0" name="Google Shape;840;p42"/>
                <p:cNvSpPr/>
                <p:nvPr/>
              </p:nvSpPr>
              <p:spPr>
                <a:xfrm>
                  <a:off x="6216466" y="2940084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1" name="Google Shape;841;p42"/>
                <p:cNvSpPr/>
                <p:nvPr/>
              </p:nvSpPr>
              <p:spPr>
                <a:xfrm>
                  <a:off x="6317622" y="2916625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42" name="Google Shape;842;p42"/>
            <p:cNvGrpSpPr/>
            <p:nvPr/>
          </p:nvGrpSpPr>
          <p:grpSpPr>
            <a:xfrm>
              <a:off x="6101600" y="2852975"/>
              <a:ext cx="502800" cy="502800"/>
              <a:chOff x="7536900" y="2615775"/>
              <a:chExt cx="502800" cy="502800"/>
            </a:xfrm>
          </p:grpSpPr>
          <p:grpSp>
            <p:nvGrpSpPr>
              <p:cNvPr id="843" name="Google Shape;843;p42"/>
              <p:cNvGrpSpPr/>
              <p:nvPr/>
            </p:nvGrpSpPr>
            <p:grpSpPr>
              <a:xfrm>
                <a:off x="7628278" y="2728495"/>
                <a:ext cx="320044" cy="277359"/>
                <a:chOff x="6623062" y="2744141"/>
                <a:chExt cx="208105" cy="186109"/>
              </a:xfrm>
            </p:grpSpPr>
            <p:sp>
              <p:nvSpPr>
                <p:cNvPr id="844" name="Google Shape;844;p42"/>
                <p:cNvSpPr/>
                <p:nvPr/>
              </p:nvSpPr>
              <p:spPr>
                <a:xfrm>
                  <a:off x="6630256" y="2809710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5" name="Google Shape;845;p42"/>
                <p:cNvSpPr/>
                <p:nvPr/>
              </p:nvSpPr>
              <p:spPr>
                <a:xfrm>
                  <a:off x="6623062" y="2744141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" name="Google Shape;846;p42"/>
                <p:cNvSpPr/>
                <p:nvPr/>
              </p:nvSpPr>
              <p:spPr>
                <a:xfrm>
                  <a:off x="6703019" y="2809710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" name="Google Shape;847;p42"/>
              <p:cNvSpPr/>
              <p:nvPr/>
            </p:nvSpPr>
            <p:spPr>
              <a:xfrm>
                <a:off x="7536900" y="2615775"/>
                <a:ext cx="502800" cy="502800"/>
              </a:xfrm>
              <a:prstGeom prst="roundRect">
                <a:avLst>
                  <a:gd fmla="val 15109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8" name="Google Shape;848;p42"/>
            <p:cNvGrpSpPr/>
            <p:nvPr/>
          </p:nvGrpSpPr>
          <p:grpSpPr>
            <a:xfrm>
              <a:off x="6787388" y="2852975"/>
              <a:ext cx="502800" cy="502800"/>
              <a:chOff x="6797488" y="2615775"/>
              <a:chExt cx="502800" cy="502800"/>
            </a:xfrm>
          </p:grpSpPr>
          <p:sp>
            <p:nvSpPr>
              <p:cNvPr id="849" name="Google Shape;849;p42"/>
              <p:cNvSpPr/>
              <p:nvPr/>
            </p:nvSpPr>
            <p:spPr>
              <a:xfrm>
                <a:off x="6888871" y="2739162"/>
                <a:ext cx="320033" cy="256025"/>
              </a:xfrm>
              <a:custGeom>
                <a:rect b="b" l="l" r="r" t="t"/>
                <a:pathLst>
                  <a:path extrusionOk="0" h="5835" w="7144">
                    <a:moveTo>
                      <a:pt x="4620" y="0"/>
                    </a:moveTo>
                    <a:cubicBezTo>
                      <a:pt x="3727" y="0"/>
                      <a:pt x="2977" y="691"/>
                      <a:pt x="2905" y="1572"/>
                    </a:cubicBezTo>
                    <a:cubicBezTo>
                      <a:pt x="2727" y="1548"/>
                      <a:pt x="2358" y="1441"/>
                      <a:pt x="2262" y="1405"/>
                    </a:cubicBezTo>
                    <a:cubicBezTo>
                      <a:pt x="1643" y="1203"/>
                      <a:pt x="1072" y="810"/>
                      <a:pt x="631" y="322"/>
                    </a:cubicBezTo>
                    <a:cubicBezTo>
                      <a:pt x="596" y="298"/>
                      <a:pt x="572" y="274"/>
                      <a:pt x="524" y="262"/>
                    </a:cubicBezTo>
                    <a:cubicBezTo>
                      <a:pt x="517" y="261"/>
                      <a:pt x="509" y="260"/>
                      <a:pt x="501" y="260"/>
                    </a:cubicBezTo>
                    <a:cubicBezTo>
                      <a:pt x="436" y="260"/>
                      <a:pt x="367" y="304"/>
                      <a:pt x="346" y="357"/>
                    </a:cubicBezTo>
                    <a:cubicBezTo>
                      <a:pt x="238" y="572"/>
                      <a:pt x="179" y="810"/>
                      <a:pt x="179" y="1048"/>
                    </a:cubicBezTo>
                    <a:cubicBezTo>
                      <a:pt x="179" y="1393"/>
                      <a:pt x="286" y="1727"/>
                      <a:pt x="476" y="1977"/>
                    </a:cubicBezTo>
                    <a:cubicBezTo>
                      <a:pt x="466" y="1975"/>
                      <a:pt x="456" y="1974"/>
                      <a:pt x="446" y="1974"/>
                    </a:cubicBezTo>
                    <a:cubicBezTo>
                      <a:pt x="397" y="1974"/>
                      <a:pt x="349" y="1997"/>
                      <a:pt x="310" y="2036"/>
                    </a:cubicBezTo>
                    <a:cubicBezTo>
                      <a:pt x="286" y="2060"/>
                      <a:pt x="286" y="2108"/>
                      <a:pt x="274" y="2143"/>
                    </a:cubicBezTo>
                    <a:lnTo>
                      <a:pt x="274" y="2203"/>
                    </a:lnTo>
                    <a:cubicBezTo>
                      <a:pt x="274" y="2655"/>
                      <a:pt x="476" y="3072"/>
                      <a:pt x="822" y="3358"/>
                    </a:cubicBezTo>
                    <a:cubicBezTo>
                      <a:pt x="786" y="3370"/>
                      <a:pt x="774" y="3405"/>
                      <a:pt x="762" y="3417"/>
                    </a:cubicBezTo>
                    <a:cubicBezTo>
                      <a:pt x="750" y="3465"/>
                      <a:pt x="727" y="3513"/>
                      <a:pt x="750" y="3548"/>
                    </a:cubicBezTo>
                    <a:cubicBezTo>
                      <a:pt x="893" y="4024"/>
                      <a:pt x="1262" y="4405"/>
                      <a:pt x="1727" y="4548"/>
                    </a:cubicBezTo>
                    <a:cubicBezTo>
                      <a:pt x="1310" y="4798"/>
                      <a:pt x="834" y="4941"/>
                      <a:pt x="334" y="4941"/>
                    </a:cubicBezTo>
                    <a:lnTo>
                      <a:pt x="191" y="4941"/>
                    </a:lnTo>
                    <a:cubicBezTo>
                      <a:pt x="107" y="4941"/>
                      <a:pt x="36" y="5001"/>
                      <a:pt x="12" y="5084"/>
                    </a:cubicBezTo>
                    <a:cubicBezTo>
                      <a:pt x="0" y="5156"/>
                      <a:pt x="48" y="5239"/>
                      <a:pt x="107" y="5263"/>
                    </a:cubicBezTo>
                    <a:cubicBezTo>
                      <a:pt x="727" y="5632"/>
                      <a:pt x="1465" y="5834"/>
                      <a:pt x="2191" y="5834"/>
                    </a:cubicBezTo>
                    <a:cubicBezTo>
                      <a:pt x="3072" y="5834"/>
                      <a:pt x="3905" y="5560"/>
                      <a:pt x="4596" y="5060"/>
                    </a:cubicBezTo>
                    <a:cubicBezTo>
                      <a:pt x="4691" y="5001"/>
                      <a:pt x="4691" y="4858"/>
                      <a:pt x="4620" y="4786"/>
                    </a:cubicBezTo>
                    <a:cubicBezTo>
                      <a:pt x="4587" y="4754"/>
                      <a:pt x="4544" y="4735"/>
                      <a:pt x="4499" y="4735"/>
                    </a:cubicBezTo>
                    <a:cubicBezTo>
                      <a:pt x="4463" y="4735"/>
                      <a:pt x="4426" y="4748"/>
                      <a:pt x="4394" y="4775"/>
                    </a:cubicBezTo>
                    <a:cubicBezTo>
                      <a:pt x="3763" y="5215"/>
                      <a:pt x="3013" y="5489"/>
                      <a:pt x="2191" y="5489"/>
                    </a:cubicBezTo>
                    <a:cubicBezTo>
                      <a:pt x="1727" y="5489"/>
                      <a:pt x="1262" y="5394"/>
                      <a:pt x="846" y="5239"/>
                    </a:cubicBezTo>
                    <a:cubicBezTo>
                      <a:pt x="1369" y="5144"/>
                      <a:pt x="1846" y="4917"/>
                      <a:pt x="2262" y="4584"/>
                    </a:cubicBezTo>
                    <a:cubicBezTo>
                      <a:pt x="2310" y="4536"/>
                      <a:pt x="2334" y="4477"/>
                      <a:pt x="2322" y="4417"/>
                    </a:cubicBezTo>
                    <a:cubicBezTo>
                      <a:pt x="2310" y="4346"/>
                      <a:pt x="2239" y="4286"/>
                      <a:pt x="2155" y="4286"/>
                    </a:cubicBezTo>
                    <a:cubicBezTo>
                      <a:pt x="1739" y="4263"/>
                      <a:pt x="1369" y="4048"/>
                      <a:pt x="1167" y="3691"/>
                    </a:cubicBezTo>
                    <a:cubicBezTo>
                      <a:pt x="1250" y="3691"/>
                      <a:pt x="1358" y="3667"/>
                      <a:pt x="1441" y="3643"/>
                    </a:cubicBezTo>
                    <a:cubicBezTo>
                      <a:pt x="1524" y="3632"/>
                      <a:pt x="1584" y="3572"/>
                      <a:pt x="1584" y="3489"/>
                    </a:cubicBezTo>
                    <a:cubicBezTo>
                      <a:pt x="1596" y="3405"/>
                      <a:pt x="1536" y="3334"/>
                      <a:pt x="1441" y="3298"/>
                    </a:cubicBezTo>
                    <a:cubicBezTo>
                      <a:pt x="1000" y="3191"/>
                      <a:pt x="667" y="2822"/>
                      <a:pt x="596" y="2381"/>
                    </a:cubicBezTo>
                    <a:lnTo>
                      <a:pt x="596" y="2381"/>
                    </a:lnTo>
                    <a:cubicBezTo>
                      <a:pt x="727" y="2405"/>
                      <a:pt x="869" y="2417"/>
                      <a:pt x="1000" y="2417"/>
                    </a:cubicBezTo>
                    <a:cubicBezTo>
                      <a:pt x="1084" y="2417"/>
                      <a:pt x="1143" y="2358"/>
                      <a:pt x="1167" y="2274"/>
                    </a:cubicBezTo>
                    <a:cubicBezTo>
                      <a:pt x="1179" y="2203"/>
                      <a:pt x="1131" y="2143"/>
                      <a:pt x="1072" y="2108"/>
                    </a:cubicBezTo>
                    <a:cubicBezTo>
                      <a:pt x="703" y="1881"/>
                      <a:pt x="476" y="1488"/>
                      <a:pt x="476" y="1048"/>
                    </a:cubicBezTo>
                    <a:cubicBezTo>
                      <a:pt x="476" y="953"/>
                      <a:pt x="488" y="846"/>
                      <a:pt x="524" y="738"/>
                    </a:cubicBezTo>
                    <a:cubicBezTo>
                      <a:pt x="965" y="1191"/>
                      <a:pt x="1524" y="1524"/>
                      <a:pt x="2120" y="1727"/>
                    </a:cubicBezTo>
                    <a:cubicBezTo>
                      <a:pt x="2120" y="1727"/>
                      <a:pt x="2715" y="1905"/>
                      <a:pt x="2929" y="1917"/>
                    </a:cubicBezTo>
                    <a:lnTo>
                      <a:pt x="3024" y="1917"/>
                    </a:lnTo>
                    <a:cubicBezTo>
                      <a:pt x="3096" y="1917"/>
                      <a:pt x="3167" y="1869"/>
                      <a:pt x="3191" y="1798"/>
                    </a:cubicBezTo>
                    <a:cubicBezTo>
                      <a:pt x="3203" y="1786"/>
                      <a:pt x="3203" y="1750"/>
                      <a:pt x="3203" y="1738"/>
                    </a:cubicBezTo>
                    <a:lnTo>
                      <a:pt x="3203" y="1703"/>
                    </a:lnTo>
                    <a:cubicBezTo>
                      <a:pt x="3203" y="953"/>
                      <a:pt x="3810" y="334"/>
                      <a:pt x="4572" y="334"/>
                    </a:cubicBezTo>
                    <a:cubicBezTo>
                      <a:pt x="4941" y="334"/>
                      <a:pt x="5287" y="488"/>
                      <a:pt x="5549" y="750"/>
                    </a:cubicBezTo>
                    <a:cubicBezTo>
                      <a:pt x="5585" y="787"/>
                      <a:pt x="5621" y="802"/>
                      <a:pt x="5663" y="802"/>
                    </a:cubicBezTo>
                    <a:cubicBezTo>
                      <a:pt x="5676" y="802"/>
                      <a:pt x="5689" y="801"/>
                      <a:pt x="5703" y="798"/>
                    </a:cubicBezTo>
                    <a:cubicBezTo>
                      <a:pt x="5882" y="762"/>
                      <a:pt x="6049" y="738"/>
                      <a:pt x="6203" y="679"/>
                    </a:cubicBezTo>
                    <a:lnTo>
                      <a:pt x="6203" y="679"/>
                    </a:lnTo>
                    <a:cubicBezTo>
                      <a:pt x="6120" y="762"/>
                      <a:pt x="6013" y="857"/>
                      <a:pt x="5894" y="917"/>
                    </a:cubicBezTo>
                    <a:cubicBezTo>
                      <a:pt x="5822" y="965"/>
                      <a:pt x="5787" y="1048"/>
                      <a:pt x="5822" y="1143"/>
                    </a:cubicBezTo>
                    <a:cubicBezTo>
                      <a:pt x="5846" y="1203"/>
                      <a:pt x="5930" y="1250"/>
                      <a:pt x="6001" y="1250"/>
                    </a:cubicBezTo>
                    <a:cubicBezTo>
                      <a:pt x="6144" y="1227"/>
                      <a:pt x="6287" y="1215"/>
                      <a:pt x="6418" y="1167"/>
                    </a:cubicBezTo>
                    <a:lnTo>
                      <a:pt x="6418" y="1167"/>
                    </a:lnTo>
                    <a:cubicBezTo>
                      <a:pt x="6299" y="1286"/>
                      <a:pt x="6168" y="1405"/>
                      <a:pt x="6013" y="1512"/>
                    </a:cubicBezTo>
                    <a:cubicBezTo>
                      <a:pt x="5965" y="1548"/>
                      <a:pt x="5941" y="1608"/>
                      <a:pt x="5941" y="1655"/>
                    </a:cubicBezTo>
                    <a:lnTo>
                      <a:pt x="5941" y="1679"/>
                    </a:lnTo>
                    <a:lnTo>
                      <a:pt x="5941" y="1703"/>
                    </a:lnTo>
                    <a:lnTo>
                      <a:pt x="5941" y="1727"/>
                    </a:lnTo>
                    <a:cubicBezTo>
                      <a:pt x="5941" y="2691"/>
                      <a:pt x="5572" y="3572"/>
                      <a:pt x="4977" y="4227"/>
                    </a:cubicBezTo>
                    <a:cubicBezTo>
                      <a:pt x="4918" y="4298"/>
                      <a:pt x="4918" y="4405"/>
                      <a:pt x="4977" y="4465"/>
                    </a:cubicBezTo>
                    <a:cubicBezTo>
                      <a:pt x="5011" y="4499"/>
                      <a:pt x="5053" y="4514"/>
                      <a:pt x="5096" y="4514"/>
                    </a:cubicBezTo>
                    <a:cubicBezTo>
                      <a:pt x="5143" y="4514"/>
                      <a:pt x="5190" y="4496"/>
                      <a:pt x="5227" y="4465"/>
                    </a:cubicBezTo>
                    <a:cubicBezTo>
                      <a:pt x="5894" y="3715"/>
                      <a:pt x="6263" y="2762"/>
                      <a:pt x="6287" y="1750"/>
                    </a:cubicBezTo>
                    <a:cubicBezTo>
                      <a:pt x="6596" y="1524"/>
                      <a:pt x="6846" y="1250"/>
                      <a:pt x="7061" y="917"/>
                    </a:cubicBezTo>
                    <a:cubicBezTo>
                      <a:pt x="7144" y="857"/>
                      <a:pt x="7132" y="750"/>
                      <a:pt x="7061" y="715"/>
                    </a:cubicBezTo>
                    <a:cubicBezTo>
                      <a:pt x="7029" y="683"/>
                      <a:pt x="6987" y="667"/>
                      <a:pt x="6937" y="667"/>
                    </a:cubicBezTo>
                    <a:cubicBezTo>
                      <a:pt x="6912" y="667"/>
                      <a:pt x="6886" y="671"/>
                      <a:pt x="6858" y="679"/>
                    </a:cubicBezTo>
                    <a:cubicBezTo>
                      <a:pt x="6775" y="726"/>
                      <a:pt x="6680" y="750"/>
                      <a:pt x="6596" y="786"/>
                    </a:cubicBezTo>
                    <a:cubicBezTo>
                      <a:pt x="6680" y="667"/>
                      <a:pt x="6763" y="512"/>
                      <a:pt x="6823" y="369"/>
                    </a:cubicBezTo>
                    <a:cubicBezTo>
                      <a:pt x="6834" y="310"/>
                      <a:pt x="6834" y="238"/>
                      <a:pt x="6787" y="191"/>
                    </a:cubicBezTo>
                    <a:cubicBezTo>
                      <a:pt x="6750" y="153"/>
                      <a:pt x="6703" y="135"/>
                      <a:pt x="6659" y="135"/>
                    </a:cubicBezTo>
                    <a:cubicBezTo>
                      <a:pt x="6632" y="135"/>
                      <a:pt x="6607" y="142"/>
                      <a:pt x="6584" y="155"/>
                    </a:cubicBezTo>
                    <a:cubicBezTo>
                      <a:pt x="6322" y="310"/>
                      <a:pt x="6061" y="393"/>
                      <a:pt x="5775" y="441"/>
                    </a:cubicBezTo>
                    <a:cubicBezTo>
                      <a:pt x="5465" y="143"/>
                      <a:pt x="5048" y="0"/>
                      <a:pt x="4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42"/>
              <p:cNvSpPr/>
              <p:nvPr/>
            </p:nvSpPr>
            <p:spPr>
              <a:xfrm>
                <a:off x="6797488" y="2615775"/>
                <a:ext cx="502800" cy="502800"/>
              </a:xfrm>
              <a:prstGeom prst="roundRect">
                <a:avLst>
                  <a:gd fmla="val 15109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1" name="Google Shape;851;p42"/>
          <p:cNvGrpSpPr/>
          <p:nvPr/>
        </p:nvGrpSpPr>
        <p:grpSpPr>
          <a:xfrm>
            <a:off x="274211" y="2663294"/>
            <a:ext cx="1823502" cy="1051350"/>
            <a:chOff x="7469486" y="1480344"/>
            <a:chExt cx="1823502" cy="1051350"/>
          </a:xfrm>
        </p:grpSpPr>
        <p:grpSp>
          <p:nvGrpSpPr>
            <p:cNvPr id="852" name="Google Shape;852;p42"/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853" name="Google Shape;853;p42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4" name="Google Shape;854;p42"/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855" name="Google Shape;855;p42"/>
                <p:cNvSpPr/>
                <p:nvPr/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56" name="Google Shape;856;p42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857" name="Google Shape;857;p42"/>
            <p:cNvCxnSpPr/>
            <p:nvPr/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8" name="Google Shape;858;p42"/>
            <p:cNvSpPr/>
            <p:nvPr/>
          </p:nvSpPr>
          <p:spPr>
            <a:xfrm>
              <a:off x="8031688" y="1782907"/>
              <a:ext cx="599697" cy="538636"/>
            </a:xfrm>
            <a:custGeom>
              <a:rect b="b" l="l" r="r" t="t"/>
              <a:pathLst>
                <a:path extrusionOk="0" h="9990" w="11123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2"/>
            <p:cNvSpPr/>
            <p:nvPr/>
          </p:nvSpPr>
          <p:spPr>
            <a:xfrm>
              <a:off x="8111159" y="1873044"/>
              <a:ext cx="448465" cy="440236"/>
            </a:xfrm>
            <a:custGeom>
              <a:rect b="b" l="l" r="r" t="t"/>
              <a:pathLst>
                <a:path extrusionOk="0" h="8165" w="8318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42"/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861" name="Google Shape;861;p42"/>
            <p:cNvSpPr/>
            <p:nvPr/>
          </p:nvSpPr>
          <p:spPr>
            <a:xfrm>
              <a:off x="6592201" y="2061933"/>
              <a:ext cx="941841" cy="2789257"/>
            </a:xfrm>
            <a:custGeom>
              <a:rect b="b" l="l" r="r" t="t"/>
              <a:pathLst>
                <a:path extrusionOk="0" h="24976" w="8343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6592201" y="2061933"/>
              <a:ext cx="941841" cy="2789257"/>
            </a:xfrm>
            <a:custGeom>
              <a:rect b="b" l="l" r="r" t="t"/>
              <a:pathLst>
                <a:path extrusionOk="0" h="24976" w="8343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6636341" y="2105487"/>
              <a:ext cx="853561" cy="2702149"/>
            </a:xfrm>
            <a:custGeom>
              <a:rect b="b" l="l" r="r" t="t"/>
              <a:pathLst>
                <a:path extrusionOk="0" h="24196" w="7561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6754649" y="2707541"/>
              <a:ext cx="614122" cy="286006"/>
            </a:xfrm>
            <a:custGeom>
              <a:rect b="b" l="l" r="r" t="t"/>
              <a:pathLst>
                <a:path extrusionOk="0" h="2561" w="544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6754649" y="3028949"/>
              <a:ext cx="614122" cy="286006"/>
            </a:xfrm>
            <a:custGeom>
              <a:rect b="b" l="l" r="r" t="t"/>
              <a:pathLst>
                <a:path extrusionOk="0" h="2561" w="544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6754649" y="3347564"/>
              <a:ext cx="614122" cy="286118"/>
            </a:xfrm>
            <a:custGeom>
              <a:rect b="b" l="l" r="r" t="t"/>
              <a:pathLst>
                <a:path extrusionOk="0" h="2562" w="544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6754649" y="3666292"/>
              <a:ext cx="614122" cy="286118"/>
            </a:xfrm>
            <a:custGeom>
              <a:rect b="b" l="l" r="r" t="t"/>
              <a:pathLst>
                <a:path extrusionOk="0" h="2562" w="544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6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6754649" y="3987700"/>
              <a:ext cx="614122" cy="286118"/>
            </a:xfrm>
            <a:custGeom>
              <a:rect b="b" l="l" r="r" t="t"/>
              <a:pathLst>
                <a:path extrusionOk="0" h="2562" w="544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6754649" y="4306316"/>
              <a:ext cx="614122" cy="286118"/>
            </a:xfrm>
            <a:custGeom>
              <a:rect b="b" l="l" r="r" t="t"/>
              <a:pathLst>
                <a:path extrusionOk="0" h="2562" w="544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6655532" y="2184555"/>
              <a:ext cx="834370" cy="2623081"/>
            </a:xfrm>
            <a:custGeom>
              <a:rect b="b" l="l" r="r" t="t"/>
              <a:pathLst>
                <a:path extrusionOk="0" h="23488" w="7391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42"/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872" name="Google Shape;872;p42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3757170" y="3848221"/>
              <a:ext cx="538223" cy="988485"/>
            </a:xfrm>
            <a:custGeom>
              <a:rect b="b" l="l" r="r" t="t"/>
              <a:pathLst>
                <a:path extrusionOk="0" h="11830" w="644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3816342" y="4047922"/>
              <a:ext cx="38779" cy="654255"/>
            </a:xfrm>
            <a:custGeom>
              <a:rect b="b" l="l" r="r" t="t"/>
              <a:pathLst>
                <a:path extrusionOk="0" h="7830" w="464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3871336" y="3530287"/>
              <a:ext cx="309980" cy="285349"/>
            </a:xfrm>
            <a:custGeom>
              <a:rect b="b" l="l" r="r" t="t"/>
              <a:pathLst>
                <a:path extrusionOk="0" h="3415" w="3709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3775557" y="3848221"/>
              <a:ext cx="519836" cy="988485"/>
            </a:xfrm>
            <a:custGeom>
              <a:rect b="b" l="l" r="r" t="t"/>
              <a:pathLst>
                <a:path extrusionOk="0" h="11830" w="622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43"/>
          <p:cNvGrpSpPr/>
          <p:nvPr/>
        </p:nvGrpSpPr>
        <p:grpSpPr>
          <a:xfrm>
            <a:off x="429030" y="517284"/>
            <a:ext cx="4078178" cy="705286"/>
            <a:chOff x="4754850" y="1600325"/>
            <a:chExt cx="3771900" cy="1412550"/>
          </a:xfrm>
        </p:grpSpPr>
        <p:sp>
          <p:nvSpPr>
            <p:cNvPr id="883" name="Google Shape;883;p43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rgbClr val="FF00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43"/>
          <p:cNvGrpSpPr/>
          <p:nvPr/>
        </p:nvGrpSpPr>
        <p:grpSpPr>
          <a:xfrm>
            <a:off x="4636780" y="517284"/>
            <a:ext cx="4078178" cy="705286"/>
            <a:chOff x="4754850" y="1600325"/>
            <a:chExt cx="3771900" cy="1412550"/>
          </a:xfrm>
        </p:grpSpPr>
        <p:sp>
          <p:nvSpPr>
            <p:cNvPr id="886" name="Google Shape;886;p43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3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rgbClr val="FF0000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8" name="Google Shape;888;p43"/>
          <p:cNvSpPr txBox="1"/>
          <p:nvPr>
            <p:ph type="title"/>
          </p:nvPr>
        </p:nvSpPr>
        <p:spPr>
          <a:xfrm>
            <a:off x="429038" y="621395"/>
            <a:ext cx="3909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 SemiBold"/>
                <a:ea typeface="Rubik SemiBold"/>
                <a:cs typeface="Rubik SemiBold"/>
                <a:sym typeface="Rubik SemiBold"/>
              </a:rPr>
              <a:t>Failure Case 1 - Grounding</a:t>
            </a:r>
            <a:endParaRPr sz="1800">
              <a:latin typeface="Rubik SemiBold"/>
              <a:ea typeface="Rubik SemiBold"/>
              <a:cs typeface="Rubik SemiBold"/>
              <a:sym typeface="Rubik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"/>
                <a:ea typeface="Rubik"/>
                <a:cs typeface="Rubik"/>
                <a:sym typeface="Rubik"/>
              </a:rPr>
              <a:t>Damaged Receipt</a:t>
            </a:r>
            <a:endParaRPr sz="18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89" name="Google Shape;889;p43"/>
          <p:cNvSpPr/>
          <p:nvPr/>
        </p:nvSpPr>
        <p:spPr>
          <a:xfrm>
            <a:off x="460050" y="1231495"/>
            <a:ext cx="4016100" cy="3596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3"/>
          <p:cNvSpPr txBox="1"/>
          <p:nvPr>
            <p:ph type="title"/>
          </p:nvPr>
        </p:nvSpPr>
        <p:spPr>
          <a:xfrm>
            <a:off x="4636788" y="614068"/>
            <a:ext cx="3909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 SemiBold"/>
                <a:ea typeface="Rubik SemiBold"/>
                <a:cs typeface="Rubik SemiBold"/>
                <a:sym typeface="Rubik SemiBold"/>
              </a:rPr>
              <a:t>Failure Case 2 - Correctness</a:t>
            </a:r>
            <a:endParaRPr sz="1800">
              <a:latin typeface="Rubik SemiBold"/>
              <a:ea typeface="Rubik SemiBold"/>
              <a:cs typeface="Rubik SemiBold"/>
              <a:sym typeface="Rubik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>
                <a:latin typeface="Rubik"/>
                <a:ea typeface="Rubik"/>
                <a:cs typeface="Rubik"/>
                <a:sym typeface="Rubik"/>
              </a:rPr>
              <a:t>“Relative Time” Query</a:t>
            </a:r>
            <a:endParaRPr sz="18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1" name="Google Shape;891;p43"/>
          <p:cNvSpPr/>
          <p:nvPr/>
        </p:nvSpPr>
        <p:spPr>
          <a:xfrm>
            <a:off x="4667813" y="1231495"/>
            <a:ext cx="4016100" cy="3596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3"/>
          <p:cNvSpPr/>
          <p:nvPr/>
        </p:nvSpPr>
        <p:spPr>
          <a:xfrm>
            <a:off x="4881950" y="1700550"/>
            <a:ext cx="3663900" cy="2907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3" name="Google Shape;893;p43"/>
          <p:cNvSpPr/>
          <p:nvPr/>
        </p:nvSpPr>
        <p:spPr>
          <a:xfrm>
            <a:off x="6398850" y="1879900"/>
            <a:ext cx="2030700" cy="1079700"/>
          </a:xfrm>
          <a:prstGeom prst="wedgeRectCallout">
            <a:avLst>
              <a:gd fmla="val 41526" name="adj1"/>
              <a:gd fmla="val 72810" name="adj2"/>
            </a:avLst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600" u="sng">
                <a:solidFill>
                  <a:schemeClr val="dk1"/>
                </a:solidFill>
              </a:rPr>
              <a:t>Me:</a:t>
            </a:r>
            <a:r>
              <a:rPr i="1" lang="en" sz="1600">
                <a:solidFill>
                  <a:schemeClr val="dk1"/>
                </a:solidFill>
              </a:rPr>
              <a:t> "How am I doing</a:t>
            </a:r>
            <a:r>
              <a:rPr b="1" i="1" lang="en" sz="1600">
                <a:solidFill>
                  <a:schemeClr val="dk1"/>
                </a:solidFill>
              </a:rPr>
              <a:t> this month?"</a:t>
            </a:r>
            <a:endParaRPr b="1" sz="19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94" name="Google Shape;894;p43"/>
          <p:cNvSpPr txBox="1"/>
          <p:nvPr>
            <p:ph type="title"/>
          </p:nvPr>
        </p:nvSpPr>
        <p:spPr>
          <a:xfrm>
            <a:off x="4714002" y="1310450"/>
            <a:ext cx="2818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14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*As of: 3 September 2026  </a:t>
            </a:r>
            <a:endParaRPr b="1" sz="1400">
              <a:solidFill>
                <a:srgbClr val="0000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5" name="Google Shape;895;p43"/>
          <p:cNvSpPr/>
          <p:nvPr/>
        </p:nvSpPr>
        <p:spPr>
          <a:xfrm>
            <a:off x="5057100" y="3097625"/>
            <a:ext cx="1905900" cy="1079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OUTFLOW: In </a:t>
            </a:r>
            <a:r>
              <a:rPr lang="en" sz="1600" u="sng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July and August 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2026, you spend…..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96" name="Google Shape;896;p43"/>
          <p:cNvPicPr preferRelativeResize="0"/>
          <p:nvPr/>
        </p:nvPicPr>
        <p:blipFill rotWithShape="1">
          <a:blip r:embed="rId3">
            <a:alphaModFix/>
          </a:blip>
          <a:srcRect b="-4264" l="0" r="3781" t="0"/>
          <a:stretch/>
        </p:blipFill>
        <p:spPr>
          <a:xfrm>
            <a:off x="595650" y="1389425"/>
            <a:ext cx="1803600" cy="34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43"/>
          <p:cNvSpPr txBox="1"/>
          <p:nvPr/>
        </p:nvSpPr>
        <p:spPr>
          <a:xfrm flipH="1">
            <a:off x="2579750" y="1504375"/>
            <a:ext cx="18036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Expected</a:t>
            </a:r>
            <a:endParaRPr b="1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Report as unable to extract, no make up numbers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8" name="Google Shape;898;p43"/>
          <p:cNvSpPr txBox="1"/>
          <p:nvPr/>
        </p:nvSpPr>
        <p:spPr>
          <a:xfrm flipH="1">
            <a:off x="2579750" y="2959600"/>
            <a:ext cx="18036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Actual Result </a:t>
            </a:r>
            <a:endParaRPr b="1" u="sng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Hallucinate, Report Sub-total as 39.25 instead </a:t>
            </a:r>
            <a:endParaRPr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*Its actually 38.25</a:t>
            </a:r>
            <a:endParaRPr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9" name="Google Shape;899;p43"/>
          <p:cNvSpPr/>
          <p:nvPr/>
        </p:nvSpPr>
        <p:spPr>
          <a:xfrm>
            <a:off x="714375" y="3785725"/>
            <a:ext cx="1615500" cy="291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44"/>
          <p:cNvPicPr preferRelativeResize="0"/>
          <p:nvPr/>
        </p:nvPicPr>
        <p:blipFill rotWithShape="1">
          <a:blip r:embed="rId3">
            <a:alphaModFix/>
          </a:blip>
          <a:srcRect b="9891" l="7705" r="-13840" t="-5457"/>
          <a:stretch/>
        </p:blipFill>
        <p:spPr>
          <a:xfrm>
            <a:off x="2869400" y="369262"/>
            <a:ext cx="3659701" cy="44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